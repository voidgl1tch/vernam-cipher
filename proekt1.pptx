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78" r:id="rId4"/>
    <p:sldId id="279" r:id="rId5"/>
    <p:sldId id="280" r:id="rId6"/>
    <p:sldId id="262" r:id="rId7"/>
    <p:sldId id="263" r:id="rId8"/>
    <p:sldId id="271" r:id="rId9"/>
    <p:sldId id="276" r:id="rId10"/>
    <p:sldId id="277" r:id="rId11"/>
    <p:sldId id="281" r:id="rId12"/>
    <p:sldId id="284" r:id="rId13"/>
    <p:sldId id="282" r:id="rId14"/>
    <p:sldId id="283" r:id="rId15"/>
    <p:sldId id="269" r:id="rId16"/>
    <p:sldId id="27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1C4D5-F194-4005-B60F-B7FB925AC96C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6951F-430F-4AC5-BEC4-1CC767AF1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14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839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7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22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11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249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39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812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815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235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130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215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267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335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44ACA-1C4E-335D-5978-8086D6BC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46339D-6C41-E1E0-A0CE-38FFF98B6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EAD386-827C-C882-8DC7-4548E62D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904C1-DB24-E546-7B18-FB6F95EA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6B9EE1-3C66-845A-734E-6BE6F0A2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03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3FCE9-1AF2-A4EC-323A-9D892BAA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44D9E8-F7BF-C5CD-0FBD-06CB5016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9C929A-45FB-AC3C-2AF6-0325D356A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9A27F8-F9B3-FA51-415F-52B57C06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91A6B-303B-2395-4D61-12FC4560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2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33E62-91DB-F68C-40C8-A4EC7966F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97AC2F-0D61-B667-987C-DB86C6010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067562-F5F5-861B-57DB-B36FD743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F806EF-06A6-85FB-39BC-425FE734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0A94EE-C026-C9C1-D66A-D8A6C1FA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02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24210-C479-CE92-7F76-34F0F6EF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E1117-2F90-C7D5-9D2C-C26DB1F83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68A062-5B56-ADA9-87B2-5F21CDF76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2D0DB5-7D77-7CCB-0BBA-3F53E766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156FD9-328A-D1A2-275B-888A5F1E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3C690B-475A-0E39-2A99-47FEC6F8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65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1B1D1-811A-6EA5-2F42-4FA33AA4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5AF090-D7FA-2554-8303-97F7A535F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5F6900-A4B0-F7B8-6BAA-4628A3000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FDECBB-C5DE-AE6C-1A30-640847445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4536E0-E414-6B69-07AF-DBEF35EEE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CE3ED2-A1D2-3385-1BC5-BCA57306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1B1E99-5643-0A53-F71D-BE153B8E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0B4682-C557-D84D-D665-59FBA4AA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0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77456-0B1D-70CD-851E-6353012C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35062F-DBBA-654B-DE01-4BFF5883C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C51E5C-B268-FA28-DF69-F69AE0626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C2BB45-7AE2-0E9B-F24A-F5A21F7B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87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8746F5-831A-7744-C03C-FE4CFA1D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FB081F-DFF5-88B8-AF45-B754AF72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A4A5C1-DA27-90BB-5FC7-717112F0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77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6EB3A-F633-4569-E347-3E548235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FEE946-65C3-910E-1B91-A6E7E743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CDE71E-641C-8FE6-D226-7FD40CB14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BD5E79-E213-CEB4-8E0D-0C52CF1A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35950A-1E5C-896D-DD5C-06D5C576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14D15B-316A-CE02-AA86-32B672B7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78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96CAC-285D-BC5E-4F2C-C2AEBF6E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6620DE-D021-46D3-A69C-765A3C0B1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6D1DB8-3FF2-94C9-CB1E-B1F45AEFD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460403-990E-1243-F5B1-9363FFD38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344B75-62ED-F8C2-13BB-6F5E45BB8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4443D8-1E7C-489B-5312-8DB0A759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57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51C952-0AB0-F0F4-0852-C8D289D0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7DD19A-F880-6483-45A0-E69EFF41B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A5BE49-6D06-9DCD-E8CB-E7BADBB0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44733D-1585-C848-B9AE-4C2DB034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5CE831-3E6F-BB7B-9A41-84423A5B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06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124FD9-E7D0-9E59-235B-03B4CE75A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BA2673-61A4-F4F6-03AA-FE7BFFBA3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3E7F88-4AE6-E443-E1DA-E041EE2C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B56983-2DE2-4FE7-407A-AC303783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18B7BF-A2B3-FE41-1B4A-1DDDC681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79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54A9B-F53C-77CB-FA97-39EC648A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ED73B5-2A15-EBD3-2520-E67885B08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35997F-CD4C-AE29-78D5-F3FB80098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016E-951E-4276-9CFA-C491F5BC6E9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838460-354B-75EF-E886-49099E46B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E9FDCA-5E8C-B9B7-E467-258516D6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71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13F759-19D2-B41F-822A-B0E6435949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912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902A41-6CFA-C041-2D0C-817848419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63"/>
            <a:ext cx="9144000" cy="2387600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Проект №2.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Шифр </a:t>
            </a:r>
            <a:r>
              <a:rPr lang="ru-RU" b="1" dirty="0" err="1">
                <a:solidFill>
                  <a:schemeClr val="bg1"/>
                </a:solidFill>
              </a:rPr>
              <a:t>Вернама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78A1F3-4BB8-1AFD-5C49-0617AA854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100" y="5070475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</a:rPr>
              <a:t>Группа: 4.407-1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Проект подготовили: 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Мартынюк Артём (менеджер)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Шуба Константин (разработчик).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ru-RU" dirty="0" err="1">
                <a:solidFill>
                  <a:schemeClr val="bg1"/>
                </a:solidFill>
              </a:rPr>
              <a:t>Фарзалиев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Тэймур</a:t>
            </a:r>
            <a:r>
              <a:rPr lang="ru-RU" dirty="0">
                <a:solidFill>
                  <a:schemeClr val="bg1"/>
                </a:solidFill>
              </a:rPr>
              <a:t> (тестировщик)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45556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4F0177E0-DA44-3FB5-1168-370EEEE1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Цель и актуальность проекта</a:t>
            </a:r>
            <a:br>
              <a:rPr lang="ru-RU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82F74FB2-AC31-3592-7283-7464F5386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Цель проекта — разработка программного средства для шифрования и дешифрования текста методом XOR (шифр </a:t>
            </a:r>
            <a:r>
              <a:rPr lang="ru-RU" dirty="0" err="1">
                <a:solidFill>
                  <a:schemeClr val="bg1"/>
                </a:solidFill>
              </a:rPr>
              <a:t>Вернама</a:t>
            </a:r>
            <a:r>
              <a:rPr lang="ru-RU" dirty="0">
                <a:solidFill>
                  <a:schemeClr val="bg1"/>
                </a:solidFill>
              </a:rPr>
              <a:t>), обеспечивающего абсолютную теоретическую стойкость при правильном использовании ключа.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Актуальность проекта обусловлена необходимостью защиты конфиденциальной информации в эпоху цифровых технологий и массовых утечек данных. Большинство простых шифров (Цезаря, </a:t>
            </a:r>
            <a:r>
              <a:rPr lang="ru-RU" dirty="0" err="1">
                <a:solidFill>
                  <a:schemeClr val="bg1"/>
                </a:solidFill>
              </a:rPr>
              <a:t>Виженера</a:t>
            </a:r>
            <a:r>
              <a:rPr lang="ru-RU" dirty="0">
                <a:solidFill>
                  <a:schemeClr val="bg1"/>
                </a:solidFill>
              </a:rPr>
              <a:t>) легко взламываются частотным анализом, а современные пользователи не имеют простых инструментов для базового шифрования сообщений. Шифр </a:t>
            </a:r>
            <a:r>
              <a:rPr lang="ru-RU" dirty="0" err="1">
                <a:solidFill>
                  <a:schemeClr val="bg1"/>
                </a:solidFill>
              </a:rPr>
              <a:t>Вернама</a:t>
            </a:r>
            <a:r>
              <a:rPr lang="ru-RU" dirty="0">
                <a:solidFill>
                  <a:schemeClr val="bg1"/>
                </a:solidFill>
              </a:rPr>
              <a:t>, в отличие от них, обладает доказуемой криптостойкостью и наглядно демонстрирует принципы симметричного шифрования. Данная программа позволяет любому пользователю быстро зашифровать текст с помощью своего или случайного ключа.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022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4F0177E0-DA44-3FB5-1168-370EEEE1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Задачи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82F74FB2-AC31-3592-7283-7464F5386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Для достижения поставленной цели необходимо решить следующие задачи:</a:t>
            </a:r>
            <a:endParaRPr lang="ru-RU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Изучить теоретические основы шифра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Вернама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 и свойства операции XOR</a:t>
            </a:r>
            <a:endParaRPr lang="ru-RU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Разработать алгоритм шифрования и дешифрования текста методом XOR</a:t>
            </a:r>
            <a:endParaRPr lang="ru-RU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Реализовать графический пользовательский интерфейс</a:t>
            </a:r>
            <a:endParaRPr lang="ru-RU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Провести тестирование программы на различных текстах</a:t>
            </a:r>
            <a:endParaRPr lang="ru-RU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4F0177E0-DA44-3FB5-1168-370EEEE1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Функциональные и нефункциональные требования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82F74FB2-AC31-3592-7283-7464F5386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>
              <a:lnSpc>
                <a:spcPct val="107000"/>
              </a:lnSpc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Функциональные требования: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Шифрование и дешифрование текста методом XOR (шифр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Вернама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Ручной ввод открытого текста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Ручной ввод ключа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Генерация случайного ключа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Отображение результата шифрования/дешифрования в текстовом поле 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07000"/>
              </a:lnSpc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Нефункциональные требования: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Простота и удобство интерфейса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Быстрая работа программы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Абсолютная криптостойкость при условии одноразового использования длинного ключа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Минимальные требования к ресурсам устройства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Кроссплатформенность (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Windows, Linux, macOS)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07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4F0177E0-DA44-3FB5-1168-370EEEE1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ru-RU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Используемые технологии</a:t>
            </a:r>
            <a:endParaRPr lang="ru-RU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82F74FB2-AC31-3592-7283-7464F5386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Python — простой и быстрый для разработки</a:t>
            </a:r>
            <a:endParaRPr lang="ru-RU" sz="3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PyQt6 — создание графического интерфейса</a:t>
            </a:r>
            <a:endParaRPr lang="ru-RU" sz="3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3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GitHub</a:t>
            </a:r>
            <a:r>
              <a:rPr lang="ru-RU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onsolas" panose="020B0609020204030204" pitchFamily="49" charset="0"/>
              </a:rPr>
              <a:t> — совместная работа</a:t>
            </a:r>
            <a:endParaRPr lang="ru-RU" sz="3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0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4CCE-57A4-787D-A3AD-E68EA39F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1306F53B-9E87-511A-C649-F08D0267883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ECC5D-C483-D7A7-CFB6-8E9E720B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Функционал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972A8-1F8B-FAD1-9C54-61B2BB9678ED}"/>
              </a:ext>
            </a:extLst>
          </p:cNvPr>
          <p:cNvSpPr txBox="1"/>
          <p:nvPr/>
        </p:nvSpPr>
        <p:spPr>
          <a:xfrm>
            <a:off x="6453879" y="1396289"/>
            <a:ext cx="54220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Строка заголовка (название программы)</a:t>
            </a:r>
            <a:r>
              <a:rPr lang="en-US" dirty="0">
                <a:solidFill>
                  <a:schemeClr val="bg1"/>
                </a:solidFill>
              </a:rPr>
              <a:t>;</a:t>
            </a:r>
            <a:endParaRPr lang="ru-RU" sz="12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Поле ввода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Поле ввода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кнопка </a:t>
            </a:r>
            <a:r>
              <a:rPr lang="ru-RU" dirty="0" err="1">
                <a:solidFill>
                  <a:schemeClr val="bg1"/>
                </a:solidFill>
              </a:rPr>
              <a:t>рандомный</a:t>
            </a:r>
            <a:r>
              <a:rPr lang="ru-RU" dirty="0">
                <a:solidFill>
                  <a:schemeClr val="bg1"/>
                </a:solidFill>
              </a:rPr>
              <a:t> ключ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Кнопка шифрования и дешифрования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Поле вывода (только для чтения)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A9A1450-48D0-DC7F-C91E-2A411397619C}"/>
              </a:ext>
            </a:extLst>
          </p:cNvPr>
          <p:cNvCxnSpPr>
            <a:cxnSpLocks/>
          </p:cNvCxnSpPr>
          <p:nvPr/>
        </p:nvCxnSpPr>
        <p:spPr>
          <a:xfrm flipH="1">
            <a:off x="5756276" y="1609725"/>
            <a:ext cx="777874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6A4346-F9DD-6055-A368-14342064E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396289"/>
            <a:ext cx="4744112" cy="5096586"/>
          </a:xfrm>
          <a:prstGeom prst="rect">
            <a:avLst/>
          </a:prstGeom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92C22B3-3956-4266-08A7-E332B429E4B9}"/>
              </a:ext>
            </a:extLst>
          </p:cNvPr>
          <p:cNvCxnSpPr>
            <a:cxnSpLocks/>
          </p:cNvCxnSpPr>
          <p:nvPr/>
        </p:nvCxnSpPr>
        <p:spPr>
          <a:xfrm flipH="1">
            <a:off x="5566915" y="2390775"/>
            <a:ext cx="967235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60DCBCB-C5E8-2D03-23B6-9A55F7C0E581}"/>
              </a:ext>
            </a:extLst>
          </p:cNvPr>
          <p:cNvCxnSpPr>
            <a:cxnSpLocks/>
          </p:cNvCxnSpPr>
          <p:nvPr/>
        </p:nvCxnSpPr>
        <p:spPr>
          <a:xfrm flipH="1">
            <a:off x="5476875" y="4591050"/>
            <a:ext cx="1057275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8B7053E6-B387-E672-DA13-57C94FB23D3E}"/>
              </a:ext>
            </a:extLst>
          </p:cNvPr>
          <p:cNvCxnSpPr>
            <a:cxnSpLocks/>
          </p:cNvCxnSpPr>
          <p:nvPr/>
        </p:nvCxnSpPr>
        <p:spPr>
          <a:xfrm flipH="1">
            <a:off x="5566915" y="5095875"/>
            <a:ext cx="967235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7B0A6DCB-80CC-288A-70A9-452AC62EE86B}"/>
              </a:ext>
            </a:extLst>
          </p:cNvPr>
          <p:cNvCxnSpPr>
            <a:cxnSpLocks/>
          </p:cNvCxnSpPr>
          <p:nvPr/>
        </p:nvCxnSpPr>
        <p:spPr>
          <a:xfrm flipH="1">
            <a:off x="5391150" y="6296025"/>
            <a:ext cx="1143000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5FD70F06-C2B2-A33E-C604-574147D48D88}"/>
              </a:ext>
            </a:extLst>
          </p:cNvPr>
          <p:cNvCxnSpPr>
            <a:cxnSpLocks/>
          </p:cNvCxnSpPr>
          <p:nvPr/>
        </p:nvCxnSpPr>
        <p:spPr>
          <a:xfrm flipH="1">
            <a:off x="5391150" y="3771900"/>
            <a:ext cx="1057275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30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213DA-1B87-C057-3822-F17B34AF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Функционал (Ввод текста, выбор ключа):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86452-671E-E2B8-55FF-2466A3437750}"/>
              </a:ext>
            </a:extLst>
          </p:cNvPr>
          <p:cNvSpPr txBox="1"/>
          <p:nvPr/>
        </p:nvSpPr>
        <p:spPr>
          <a:xfrm>
            <a:off x="1061348" y="1852231"/>
            <a:ext cx="542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E1E3E6"/>
                </a:solidFill>
                <a:latin typeface="-apple-system"/>
              </a:rPr>
              <a:t>З</a:t>
            </a:r>
            <a:r>
              <a:rPr lang="ru-RU" b="0" i="0" dirty="0">
                <a:solidFill>
                  <a:srgbClr val="E1E3E6"/>
                </a:solidFill>
                <a:effectLst/>
                <a:latin typeface="-apple-system"/>
              </a:rPr>
              <a:t>адаём текст в окне ввода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861BDA-0A0A-32A9-9888-97BE2B37DFC5}"/>
              </a:ext>
            </a:extLst>
          </p:cNvPr>
          <p:cNvSpPr txBox="1"/>
          <p:nvPr/>
        </p:nvSpPr>
        <p:spPr>
          <a:xfrm>
            <a:off x="7051677" y="1690687"/>
            <a:ext cx="378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E1E3E6"/>
                </a:solidFill>
                <a:effectLst/>
                <a:latin typeface="-apple-system"/>
              </a:rPr>
              <a:t>После мы выбираем в счётчике ключ, либо задаём его рандомно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A59B11-36B7-464A-4774-1F44C0ABC992}"/>
              </a:ext>
            </a:extLst>
          </p:cNvPr>
          <p:cNvSpPr txBox="1"/>
          <p:nvPr/>
        </p:nvSpPr>
        <p:spPr>
          <a:xfrm>
            <a:off x="2353088" y="6229669"/>
            <a:ext cx="7484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функция (</a:t>
            </a:r>
            <a:r>
              <a:rPr lang="ru-RU" sz="2400" b="1" dirty="0">
                <a:solidFill>
                  <a:schemeClr val="bg1"/>
                </a:solidFill>
              </a:rPr>
              <a:t>Ввод текста, выбор ключа</a:t>
            </a:r>
            <a:r>
              <a:rPr lang="ru-RU" sz="2400" dirty="0">
                <a:solidFill>
                  <a:schemeClr val="bg1"/>
                </a:solidFill>
              </a:rPr>
              <a:t>) работает успешно</a:t>
            </a:r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4C2CE4-F308-8D59-10EF-138A98F8D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991" y="2308812"/>
            <a:ext cx="3733285" cy="400316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A8BF1A-6698-7BC0-E847-721149D2E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310" y="2221693"/>
            <a:ext cx="3784598" cy="404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1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213DA-1B87-C057-3822-F17B34AF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Функционал (Шифрование Дешифрование):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86452-671E-E2B8-55FF-2466A3437750}"/>
              </a:ext>
            </a:extLst>
          </p:cNvPr>
          <p:cNvSpPr txBox="1"/>
          <p:nvPr/>
        </p:nvSpPr>
        <p:spPr>
          <a:xfrm>
            <a:off x="2097671" y="1312643"/>
            <a:ext cx="5422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E1E3E6"/>
                </a:solidFill>
                <a:latin typeface="-apple-system"/>
              </a:rPr>
              <a:t>Шифрование</a:t>
            </a:r>
            <a:r>
              <a:rPr lang="ru-RU" sz="24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861BDA-0A0A-32A9-9888-97BE2B37DFC5}"/>
              </a:ext>
            </a:extLst>
          </p:cNvPr>
          <p:cNvSpPr txBox="1"/>
          <p:nvPr/>
        </p:nvSpPr>
        <p:spPr>
          <a:xfrm>
            <a:off x="7234557" y="1312643"/>
            <a:ext cx="3784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Дешифрование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A59B11-36B7-464A-4774-1F44C0ABC992}"/>
              </a:ext>
            </a:extLst>
          </p:cNvPr>
          <p:cNvSpPr txBox="1"/>
          <p:nvPr/>
        </p:nvSpPr>
        <p:spPr>
          <a:xfrm>
            <a:off x="2144089" y="6221875"/>
            <a:ext cx="7860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Функция (Шифрование Дешифрование) работает успешно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11ACEA-6A86-5937-E47C-D55335B2C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11" y="1899699"/>
            <a:ext cx="3919430" cy="42100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89D293-5806-0E2B-1288-AFA9EEC2A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460" y="1851052"/>
            <a:ext cx="4027523" cy="433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52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6200"/>
            <a:ext cx="12192000" cy="6934200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2295525" y="6350"/>
            <a:ext cx="10515600" cy="358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</a:rPr>
              <a:t>Описание работы программы(шифрование)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302C663-4600-B640-F601-07992A726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467" y="2549006"/>
            <a:ext cx="6146258" cy="2960138"/>
          </a:xfrm>
        </p:spPr>
        <p:txBody>
          <a:bodyPr>
            <a:noAutofit/>
          </a:bodyPr>
          <a:lstStyle/>
          <a:p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текст обрабатывается посимвольно</a:t>
            </a:r>
            <a:b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</a:b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каждый символ переводится в числовой код: </a:t>
            </a:r>
            <a:r>
              <a:rPr lang="ru-RU" sz="2800" b="0" i="0" dirty="0" err="1">
                <a:solidFill>
                  <a:srgbClr val="E1E3E6"/>
                </a:solidFill>
                <a:effectLst/>
                <a:latin typeface="-apple-system"/>
              </a:rPr>
              <a:t>ord</a:t>
            </a: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(</a:t>
            </a:r>
            <a:r>
              <a:rPr lang="ru-RU" sz="2800" b="0" i="0" dirty="0" err="1">
                <a:solidFill>
                  <a:srgbClr val="E1E3E6"/>
                </a:solidFill>
                <a:effectLst/>
                <a:latin typeface="-apple-system"/>
              </a:rPr>
              <a:t>ch</a:t>
            </a: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)</a:t>
            </a:r>
            <a:b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</a:b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берётся символ ключа (с циклическим повторением): </a:t>
            </a:r>
            <a:r>
              <a:rPr lang="ru-RU" sz="2800" b="0" i="0" dirty="0" err="1">
                <a:solidFill>
                  <a:srgbClr val="E1E3E6"/>
                </a:solidFill>
                <a:effectLst/>
                <a:latin typeface="-apple-system"/>
              </a:rPr>
              <a:t>key</a:t>
            </a: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[i % </a:t>
            </a:r>
            <a:r>
              <a:rPr lang="ru-RU" sz="2800" b="0" i="0" dirty="0" err="1">
                <a:solidFill>
                  <a:srgbClr val="E1E3E6"/>
                </a:solidFill>
                <a:effectLst/>
                <a:latin typeface="-apple-system"/>
              </a:rPr>
              <a:t>key_len</a:t>
            </a: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]</a:t>
            </a:r>
            <a:b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</a:b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применяется операция XOR ^</a:t>
            </a:r>
            <a:b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</a:b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результат преобразуется обратно: </a:t>
            </a:r>
            <a:r>
              <a:rPr lang="ru-RU" sz="2800" b="0" i="0" dirty="0" err="1">
                <a:solidFill>
                  <a:srgbClr val="E1E3E6"/>
                </a:solidFill>
                <a:effectLst/>
                <a:latin typeface="-apple-system"/>
              </a:rPr>
              <a:t>chr</a:t>
            </a:r>
            <a: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  <a:t>(...)</a:t>
            </a:r>
            <a:br>
              <a:rPr lang="ru-RU" sz="2800" b="0" i="0" dirty="0">
                <a:solidFill>
                  <a:srgbClr val="E1E3E6"/>
                </a:solidFill>
                <a:effectLst/>
                <a:latin typeface="-apple-system"/>
              </a:rPr>
            </a:br>
            <a:br>
              <a:rPr lang="ru-RU" sz="1800" b="0" i="0" dirty="0">
                <a:solidFill>
                  <a:schemeClr val="bg1"/>
                </a:solidFill>
                <a:effectLst/>
                <a:latin typeface="-apple-system"/>
              </a:rPr>
            </a:br>
            <a:r>
              <a:rPr lang="ru-RU" sz="2800" b="1" dirty="0">
                <a:solidFill>
                  <a:schemeClr val="bg1"/>
                </a:solidFill>
              </a:rPr>
              <a:t>Формула шифрования</a:t>
            </a:r>
            <a:br>
              <a:rPr lang="ru-RU" sz="2800" b="1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C = T ⊕ K</a:t>
            </a:r>
            <a:br>
              <a:rPr lang="ru-RU" sz="2800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где:</a:t>
            </a:r>
            <a:br>
              <a:rPr lang="ru-RU" sz="2800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T — символ текста </a:t>
            </a:r>
            <a:br>
              <a:rPr lang="ru-RU" sz="2800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K — символ ключа </a:t>
            </a:r>
            <a:br>
              <a:rPr lang="ru-RU" sz="2800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C — зашифрованный символ</a:t>
            </a:r>
            <a:br>
              <a:rPr lang="ru-RU" sz="2800" dirty="0">
                <a:solidFill>
                  <a:schemeClr val="bg1"/>
                </a:solidFill>
              </a:rPr>
            </a:b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D18B75-BE1A-9406-F02C-8C3A53589A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92" r="22448"/>
          <a:stretch/>
        </p:blipFill>
        <p:spPr>
          <a:xfrm>
            <a:off x="6800850" y="1256997"/>
            <a:ext cx="506993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7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6200"/>
            <a:ext cx="12192000" cy="6934200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2295525" y="6350"/>
            <a:ext cx="10515600" cy="358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</a:rPr>
              <a:t>Описание работы программы(Дешифрование)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302C663-4600-B640-F601-07992A726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92" y="1910831"/>
            <a:ext cx="5981194" cy="2960138"/>
          </a:xfrm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Дешифрование выполняется тем же алгоритмом.</a:t>
            </a:r>
            <a:br>
              <a:rPr lang="ru-RU" sz="2800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к зашифрованному тексту снова применяется тот же ключ</a:t>
            </a:r>
            <a:br>
              <a:rPr lang="ru-RU" sz="2800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операция XOR восстанавливает исходный текст</a:t>
            </a:r>
            <a:br>
              <a:rPr lang="ru-RU" sz="2800" dirty="0">
                <a:solidFill>
                  <a:schemeClr val="bg1"/>
                </a:solidFill>
              </a:rPr>
            </a:b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C6DCC0-0F8E-2715-D442-26C60CC53A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92" r="22448"/>
          <a:stretch/>
        </p:blipFill>
        <p:spPr>
          <a:xfrm>
            <a:off x="6553199" y="1439559"/>
            <a:ext cx="506993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82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200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838200" y="469994"/>
            <a:ext cx="10515600" cy="358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dirty="0">
                <a:solidFill>
                  <a:schemeClr val="bg1"/>
                </a:solidFill>
              </a:rPr>
              <a:t>Структура программы</a:t>
            </a:r>
          </a:p>
        </p:txBody>
      </p:sp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C302C663-4600-B640-F601-07992A726ED0}"/>
              </a:ext>
            </a:extLst>
          </p:cNvPr>
          <p:cNvSpPr txBox="1">
            <a:spLocks/>
          </p:cNvSpPr>
          <p:nvPr/>
        </p:nvSpPr>
        <p:spPr>
          <a:xfrm>
            <a:off x="883192" y="1910831"/>
            <a:ext cx="5981194" cy="2960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C5EE2-E8A3-B76E-2A0C-30C9E610ED57}"/>
              </a:ext>
            </a:extLst>
          </p:cNvPr>
          <p:cNvSpPr txBox="1"/>
          <p:nvPr/>
        </p:nvSpPr>
        <p:spPr>
          <a:xfrm>
            <a:off x="2859506" y="1374963"/>
            <a:ext cx="647298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Программа реализована по архитектуре MVC: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>
                <a:solidFill>
                  <a:schemeClr val="bg1"/>
                </a:solidFill>
              </a:rPr>
              <a:t>Model</a:t>
            </a:r>
            <a:r>
              <a:rPr lang="ru-RU" sz="3200" dirty="0">
                <a:solidFill>
                  <a:schemeClr val="bg1"/>
                </a:solidFill>
              </a:rPr>
              <a:t> — хранение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>
                <a:solidFill>
                  <a:schemeClr val="bg1"/>
                </a:solidFill>
              </a:rPr>
              <a:t>View</a:t>
            </a:r>
            <a:r>
              <a:rPr lang="ru-RU" sz="3200" dirty="0">
                <a:solidFill>
                  <a:schemeClr val="bg1"/>
                </a:solidFill>
              </a:rPr>
              <a:t> — пользовательский интерфейс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 err="1">
                <a:solidFill>
                  <a:schemeClr val="bg1"/>
                </a:solidFill>
              </a:rPr>
              <a:t>Controller</a:t>
            </a:r>
            <a:r>
              <a:rPr lang="ru-RU" sz="3200" dirty="0">
                <a:solidFill>
                  <a:schemeClr val="bg1"/>
                </a:solidFill>
              </a:rPr>
              <a:t> — обработка логики </a:t>
            </a:r>
          </a:p>
          <a:p>
            <a:r>
              <a:rPr lang="ru-RU" sz="3200" dirty="0">
                <a:solidFill>
                  <a:schemeClr val="bg1"/>
                </a:solidFill>
              </a:rPr>
              <a:t>Алгоритм шифрования вынесен в отдельный модуль.</a:t>
            </a:r>
          </a:p>
        </p:txBody>
      </p:sp>
    </p:spTree>
    <p:extLst>
      <p:ext uri="{BB962C8B-B14F-4D97-AF65-F5344CB8AC3E}">
        <p14:creationId xmlns:p14="http://schemas.microsoft.com/office/powerpoint/2010/main" val="1418041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200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838200" y="469994"/>
            <a:ext cx="10515600" cy="358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dirty="0">
                <a:solidFill>
                  <a:schemeClr val="bg1"/>
                </a:solidFill>
              </a:rPr>
              <a:t>Структура программы</a:t>
            </a:r>
          </a:p>
        </p:txBody>
      </p:sp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C302C663-4600-B640-F601-07992A726ED0}"/>
              </a:ext>
            </a:extLst>
          </p:cNvPr>
          <p:cNvSpPr txBox="1">
            <a:spLocks/>
          </p:cNvSpPr>
          <p:nvPr/>
        </p:nvSpPr>
        <p:spPr>
          <a:xfrm>
            <a:off x="883192" y="1910831"/>
            <a:ext cx="5981194" cy="2960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chemeClr val="bg1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E772410-A960-54BE-AFDB-729696E03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251301"/>
              </p:ext>
            </p:extLst>
          </p:nvPr>
        </p:nvGraphicFramePr>
        <p:xfrm>
          <a:off x="2032000" y="927923"/>
          <a:ext cx="247583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3082848916"/>
                    </a:ext>
                  </a:extLst>
                </a:gridCol>
              </a:tblGrid>
              <a:tr h="378249">
                <a:tc>
                  <a:txBody>
                    <a:bodyPr/>
                    <a:lstStyle/>
                    <a:p>
                      <a:r>
                        <a:rPr lang="en-US" dirty="0"/>
                        <a:t>Cipher</a:t>
                      </a:r>
                      <a:r>
                        <a:rPr lang="ru-RU" dirty="0"/>
                        <a:t>(абстрактный класс)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48612"/>
                  </a:ext>
                </a:extLst>
              </a:tr>
              <a:tr h="37824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process(text: str, key: str)</a:t>
                      </a:r>
                      <a:r>
                        <a:rPr lang="ru-RU" sz="1800" b="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800" b="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&gt;str</a:t>
                      </a:r>
                      <a:endParaRPr lang="ru-RU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33106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D6553EA-42F7-5E1E-5A8C-170C1F382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377738"/>
              </p:ext>
            </p:extLst>
          </p:nvPr>
        </p:nvGraphicFramePr>
        <p:xfrm>
          <a:off x="5271746" y="1058838"/>
          <a:ext cx="2475832" cy="10183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3082848916"/>
                    </a:ext>
                  </a:extLst>
                </a:gridCol>
              </a:tblGrid>
              <a:tr h="378249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VernamCipher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класс наследник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48612"/>
                  </a:ext>
                </a:extLst>
              </a:tr>
              <a:tr h="37824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process(text, key)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33106"/>
                  </a:ext>
                </a:extLst>
              </a:tr>
            </a:tbl>
          </a:graphicData>
        </a:graphic>
      </p:graphicFrame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DF55FF0D-84E7-F3A5-761A-79638AC5E022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4507832" y="1568002"/>
            <a:ext cx="76391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0C5EF2F8-5430-B7A9-3709-0865161F7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503812"/>
              </p:ext>
            </p:extLst>
          </p:nvPr>
        </p:nvGraphicFramePr>
        <p:xfrm>
          <a:off x="2032000" y="2780981"/>
          <a:ext cx="2475832" cy="1149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217657673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15232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set_text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(text: str)</a:t>
                      </a:r>
                      <a:br>
                        <a:rPr lang="ru-RU" dirty="0"/>
                      </a:b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get_text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-&gt; str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40605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4D543CF-4823-0901-FA7F-5D1EDAF9B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512986"/>
              </p:ext>
            </p:extLst>
          </p:nvPr>
        </p:nvGraphicFramePr>
        <p:xfrm>
          <a:off x="2032000" y="2502848"/>
          <a:ext cx="2475832" cy="7564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3082848916"/>
                    </a:ext>
                  </a:extLst>
                </a:gridCol>
              </a:tblGrid>
              <a:tr h="378249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TextModel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48612"/>
                  </a:ext>
                </a:extLst>
              </a:tr>
              <a:tr h="37824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_text: str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33106"/>
                  </a:ext>
                </a:extLst>
              </a:tr>
            </a:tbl>
          </a:graphicData>
        </a:graphic>
      </p:graphicFrame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DF0F27D-3720-C650-CCA0-C9DFE9252EE5}"/>
              </a:ext>
            </a:extLst>
          </p:cNvPr>
          <p:cNvCxnSpPr>
            <a:cxnSpLocks/>
          </p:cNvCxnSpPr>
          <p:nvPr/>
        </p:nvCxnSpPr>
        <p:spPr>
          <a:xfrm flipV="1">
            <a:off x="4507832" y="3257284"/>
            <a:ext cx="76391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50AAE223-D8E6-4D6F-F619-D3E0F840A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386434"/>
              </p:ext>
            </p:extLst>
          </p:nvPr>
        </p:nvGraphicFramePr>
        <p:xfrm>
          <a:off x="5271746" y="3033392"/>
          <a:ext cx="2475832" cy="101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217657673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15232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encrypt(key: str) -&gt; str 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40605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06AF8AAD-7821-E13E-956F-6AD682140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336020"/>
              </p:ext>
            </p:extLst>
          </p:nvPr>
        </p:nvGraphicFramePr>
        <p:xfrm>
          <a:off x="5271746" y="2524228"/>
          <a:ext cx="2475832" cy="10183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3082848916"/>
                    </a:ext>
                  </a:extLst>
                </a:gridCol>
              </a:tblGrid>
              <a:tr h="378249">
                <a:tc>
                  <a:txBody>
                    <a:bodyPr/>
                    <a:lstStyle/>
                    <a:p>
                      <a:r>
                        <a:rPr lang="en-US" dirty="0" err="1"/>
                        <a:t>CipherController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48612"/>
                  </a:ext>
                </a:extLst>
              </a:tr>
              <a:tr h="37824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_cipher: Cipher</a:t>
                      </a:r>
                      <a:br>
                        <a:rPr lang="ru-RU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model: </a:t>
                      </a:r>
                      <a:r>
                        <a:rPr lang="en-US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TextModel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33106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AD80B560-DB85-5B38-9C9A-C3152B4F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91311"/>
              </p:ext>
            </p:extLst>
          </p:nvPr>
        </p:nvGraphicFramePr>
        <p:xfrm>
          <a:off x="8740173" y="3042889"/>
          <a:ext cx="2475832" cy="101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217657673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15232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generate_random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40605"/>
                  </a:ext>
                </a:extLst>
              </a:tr>
            </a:tbl>
          </a:graphicData>
        </a:graphic>
      </p:graphicFrame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703B4481-C3C4-7E18-1437-B1FB0FAB6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47407"/>
              </p:ext>
            </p:extLst>
          </p:nvPr>
        </p:nvGraphicFramePr>
        <p:xfrm>
          <a:off x="8740173" y="2533725"/>
          <a:ext cx="2475832" cy="10183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3082848916"/>
                    </a:ext>
                  </a:extLst>
                </a:gridCol>
              </a:tblGrid>
              <a:tr h="378249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OptionsFrame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48612"/>
                  </a:ext>
                </a:extLst>
              </a:tr>
              <a:tr h="378249"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key_field</a:t>
                      </a:r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ru-RU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random_btn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33106"/>
                  </a:ext>
                </a:extLst>
              </a:tr>
            </a:tbl>
          </a:graphicData>
        </a:graphic>
      </p:graphicFrame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BDEF11A-2044-5B90-48FA-D71F649D2E0D}"/>
              </a:ext>
            </a:extLst>
          </p:cNvPr>
          <p:cNvCxnSpPr>
            <a:cxnSpLocks/>
          </p:cNvCxnSpPr>
          <p:nvPr/>
        </p:nvCxnSpPr>
        <p:spPr>
          <a:xfrm flipV="1">
            <a:off x="7764178" y="3257284"/>
            <a:ext cx="940462" cy="150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E3F1C0E8-D5F0-A33B-1E07-78D2ADAC6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1754"/>
              </p:ext>
            </p:extLst>
          </p:nvPr>
        </p:nvGraphicFramePr>
        <p:xfrm>
          <a:off x="1935426" y="5647235"/>
          <a:ext cx="2475832" cy="1149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217657673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15232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init_ui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ru-RU" dirty="0"/>
                      </a:b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handle_encrypt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40605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743654AF-27D4-E438-4E5C-7D6BC6B06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96038"/>
              </p:ext>
            </p:extLst>
          </p:nvPr>
        </p:nvGraphicFramePr>
        <p:xfrm>
          <a:off x="1935426" y="4029446"/>
          <a:ext cx="2475832" cy="218291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3082848916"/>
                    </a:ext>
                  </a:extLst>
                </a:gridCol>
              </a:tblGrid>
              <a:tr h="329877">
                <a:tc>
                  <a:txBody>
                    <a:bodyPr/>
                    <a:lstStyle/>
                    <a:p>
                      <a:r>
                        <a:rPr lang="en-US" dirty="0" err="1"/>
                        <a:t>CipherApp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48612"/>
                  </a:ext>
                </a:extLst>
              </a:tr>
              <a:tr h="1817154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model: </a:t>
                      </a:r>
                      <a:r>
                        <a:rPr lang="en-US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TextModel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cipher: Cipher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controller: </a:t>
                      </a:r>
                      <a:r>
                        <a:rPr lang="en-US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CipherController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input_text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output_text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options: </a:t>
                      </a:r>
                      <a:r>
                        <a:rPr lang="en-US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OptionsFrame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encrypt_btn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33106"/>
                  </a:ext>
                </a:extLst>
              </a:tr>
            </a:tbl>
          </a:graphicData>
        </a:graphic>
      </p:graphicFrame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EAE3DBA3-6559-8CF2-00BC-5962F2EED3A5}"/>
              </a:ext>
            </a:extLst>
          </p:cNvPr>
          <p:cNvCxnSpPr>
            <a:cxnSpLocks/>
          </p:cNvCxnSpPr>
          <p:nvPr/>
        </p:nvCxnSpPr>
        <p:spPr>
          <a:xfrm flipH="1">
            <a:off x="4411258" y="4061217"/>
            <a:ext cx="4328915" cy="16617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9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200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883192" y="449660"/>
            <a:ext cx="10515600" cy="358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bg1"/>
                </a:solidFill>
              </a:rPr>
              <a:t>Основные классы</a:t>
            </a:r>
          </a:p>
        </p:txBody>
      </p:sp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C302C663-4600-B640-F601-07992A726ED0}"/>
              </a:ext>
            </a:extLst>
          </p:cNvPr>
          <p:cNvSpPr txBox="1">
            <a:spLocks/>
          </p:cNvSpPr>
          <p:nvPr/>
        </p:nvSpPr>
        <p:spPr>
          <a:xfrm>
            <a:off x="883192" y="1910831"/>
            <a:ext cx="5981194" cy="2960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C5EE2-E8A3-B76E-2A0C-30C9E610ED57}"/>
              </a:ext>
            </a:extLst>
          </p:cNvPr>
          <p:cNvSpPr txBox="1"/>
          <p:nvPr/>
        </p:nvSpPr>
        <p:spPr>
          <a:xfrm>
            <a:off x="2904498" y="1145361"/>
            <a:ext cx="647298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Cipher — </a:t>
            </a:r>
            <a:r>
              <a:rPr lang="ru-RU" sz="2800" dirty="0">
                <a:solidFill>
                  <a:schemeClr val="bg1"/>
                </a:solidFill>
              </a:rPr>
              <a:t>абстрактный класс, задаёт интерфейс метода </a:t>
            </a:r>
            <a:r>
              <a:rPr lang="en-US" sz="2800" dirty="0">
                <a:solidFill>
                  <a:schemeClr val="bg1"/>
                </a:solidFill>
              </a:rPr>
              <a:t>process()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en-US" sz="2800" dirty="0" err="1">
                <a:solidFill>
                  <a:schemeClr val="bg1"/>
                </a:solidFill>
              </a:rPr>
              <a:t>VernamCipher</a:t>
            </a:r>
            <a:r>
              <a:rPr lang="en-US" sz="2800" dirty="0">
                <a:solidFill>
                  <a:schemeClr val="bg1"/>
                </a:solidFill>
              </a:rPr>
              <a:t> — </a:t>
            </a:r>
            <a:r>
              <a:rPr lang="ru-RU" sz="2800" dirty="0">
                <a:solidFill>
                  <a:schemeClr val="bg1"/>
                </a:solidFill>
              </a:rPr>
              <a:t>реализует алгоритм шифрования (</a:t>
            </a:r>
            <a:r>
              <a:rPr lang="en-US" sz="2800" dirty="0">
                <a:solidFill>
                  <a:schemeClr val="bg1"/>
                </a:solidFill>
              </a:rPr>
              <a:t>XOR/</a:t>
            </a:r>
            <a:r>
              <a:rPr lang="ru-RU" sz="2800" dirty="0">
                <a:solidFill>
                  <a:schemeClr val="bg1"/>
                </a:solidFill>
              </a:rPr>
              <a:t>Вернам)</a:t>
            </a:r>
          </a:p>
          <a:p>
            <a:r>
              <a:rPr lang="en-US" sz="2800" dirty="0" err="1">
                <a:solidFill>
                  <a:schemeClr val="bg1"/>
                </a:solidFill>
              </a:rPr>
              <a:t>TextModel</a:t>
            </a:r>
            <a:r>
              <a:rPr lang="en-US" sz="2800" dirty="0">
                <a:solidFill>
                  <a:schemeClr val="bg1"/>
                </a:solidFill>
              </a:rPr>
              <a:t> — </a:t>
            </a:r>
            <a:r>
              <a:rPr lang="ru-RU" sz="2800" dirty="0">
                <a:solidFill>
                  <a:schemeClr val="bg1"/>
                </a:solidFill>
              </a:rPr>
              <a:t>хранит текст (</a:t>
            </a:r>
            <a:r>
              <a:rPr lang="en-US" sz="2800" dirty="0" err="1">
                <a:solidFill>
                  <a:schemeClr val="bg1"/>
                </a:solidFill>
              </a:rPr>
              <a:t>set_text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get_text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en-US" sz="2800" dirty="0" err="1">
                <a:solidFill>
                  <a:schemeClr val="bg1"/>
                </a:solidFill>
              </a:rPr>
              <a:t>CipherController</a:t>
            </a:r>
            <a:r>
              <a:rPr lang="en-US" sz="2800" dirty="0">
                <a:solidFill>
                  <a:schemeClr val="bg1"/>
                </a:solidFill>
              </a:rPr>
              <a:t> — </a:t>
            </a:r>
            <a:r>
              <a:rPr lang="ru-RU" sz="2800" dirty="0">
                <a:solidFill>
                  <a:schemeClr val="bg1"/>
                </a:solidFill>
              </a:rPr>
              <a:t>связывает модель и алгоритм (</a:t>
            </a:r>
            <a:r>
              <a:rPr lang="en-US" sz="2800" dirty="0">
                <a:solidFill>
                  <a:schemeClr val="bg1"/>
                </a:solidFill>
              </a:rPr>
              <a:t>encrypt)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en-US" sz="2800" dirty="0" err="1">
                <a:solidFill>
                  <a:schemeClr val="bg1"/>
                </a:solidFill>
              </a:rPr>
              <a:t>OptionsFrame</a:t>
            </a:r>
            <a:r>
              <a:rPr lang="en-US" sz="2800" dirty="0">
                <a:solidFill>
                  <a:schemeClr val="bg1"/>
                </a:solidFill>
              </a:rPr>
              <a:t> — </a:t>
            </a:r>
            <a:r>
              <a:rPr lang="ru-RU" sz="2800" dirty="0">
                <a:solidFill>
                  <a:schemeClr val="bg1"/>
                </a:solidFill>
              </a:rPr>
              <a:t>отвечает за ввод и генерацию ключа</a:t>
            </a:r>
          </a:p>
          <a:p>
            <a:r>
              <a:rPr lang="en-US" sz="2800" dirty="0" err="1">
                <a:solidFill>
                  <a:schemeClr val="bg1"/>
                </a:solidFill>
              </a:rPr>
              <a:t>CipherApp</a:t>
            </a:r>
            <a:r>
              <a:rPr lang="en-US" sz="2800" dirty="0">
                <a:solidFill>
                  <a:schemeClr val="bg1"/>
                </a:solidFill>
              </a:rPr>
              <a:t> — </a:t>
            </a:r>
            <a:r>
              <a:rPr lang="ru-RU" sz="2800" dirty="0">
                <a:solidFill>
                  <a:schemeClr val="bg1"/>
                </a:solidFill>
              </a:rPr>
              <a:t>главный класс, объединяет все компоненты</a:t>
            </a:r>
          </a:p>
        </p:txBody>
      </p:sp>
    </p:spTree>
    <p:extLst>
      <p:ext uri="{BB962C8B-B14F-4D97-AF65-F5344CB8AC3E}">
        <p14:creationId xmlns:p14="http://schemas.microsoft.com/office/powerpoint/2010/main" val="2603616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200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12C54A-A273-C375-0141-AEA49448614B}"/>
              </a:ext>
            </a:extLst>
          </p:cNvPr>
          <p:cNvSpPr txBox="1">
            <a:spLocks/>
          </p:cNvSpPr>
          <p:nvPr/>
        </p:nvSpPr>
        <p:spPr>
          <a:xfrm>
            <a:off x="838200" y="469994"/>
            <a:ext cx="10515600" cy="358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dirty="0">
                <a:solidFill>
                  <a:schemeClr val="bg1"/>
                </a:solidFill>
              </a:rPr>
              <a:t>Связи между классами</a:t>
            </a:r>
          </a:p>
        </p:txBody>
      </p:sp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C302C663-4600-B640-F601-07992A726ED0}"/>
              </a:ext>
            </a:extLst>
          </p:cNvPr>
          <p:cNvSpPr txBox="1">
            <a:spLocks/>
          </p:cNvSpPr>
          <p:nvPr/>
        </p:nvSpPr>
        <p:spPr>
          <a:xfrm>
            <a:off x="883192" y="1910831"/>
            <a:ext cx="5981194" cy="2960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C5EE2-E8A3-B76E-2A0C-30C9E610ED57}"/>
              </a:ext>
            </a:extLst>
          </p:cNvPr>
          <p:cNvSpPr txBox="1"/>
          <p:nvPr/>
        </p:nvSpPr>
        <p:spPr>
          <a:xfrm>
            <a:off x="883193" y="1374963"/>
            <a:ext cx="108917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</a:rPr>
              <a:t>CipherApp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ru-RU" sz="4400" dirty="0">
                <a:solidFill>
                  <a:schemeClr val="bg1"/>
                </a:solidFill>
              </a:rPr>
              <a:t>использует </a:t>
            </a:r>
            <a:r>
              <a:rPr lang="en-US" sz="4400" dirty="0" err="1">
                <a:solidFill>
                  <a:schemeClr val="bg1"/>
                </a:solidFill>
              </a:rPr>
              <a:t>CipherController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ru-RU" sz="4400" dirty="0">
                <a:solidFill>
                  <a:schemeClr val="bg1"/>
                </a:solidFill>
              </a:rPr>
              <a:t>и </a:t>
            </a:r>
            <a:r>
              <a:rPr lang="en-US" sz="4400" dirty="0" err="1">
                <a:solidFill>
                  <a:schemeClr val="bg1"/>
                </a:solidFill>
              </a:rPr>
              <a:t>TextModel</a:t>
            </a:r>
            <a:r>
              <a:rPr lang="en-US" sz="4400" dirty="0">
                <a:solidFill>
                  <a:schemeClr val="bg1"/>
                </a:solidFill>
              </a:rPr>
              <a:t>, </a:t>
            </a:r>
            <a:r>
              <a:rPr lang="ru-RU" sz="4400" dirty="0">
                <a:solidFill>
                  <a:schemeClr val="bg1"/>
                </a:solidFill>
              </a:rPr>
              <a:t>содержит </a:t>
            </a:r>
            <a:r>
              <a:rPr lang="en-US" sz="4400" dirty="0" err="1">
                <a:solidFill>
                  <a:schemeClr val="bg1"/>
                </a:solidFill>
              </a:rPr>
              <a:t>OptionsFrame</a:t>
            </a:r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err="1">
                <a:solidFill>
                  <a:schemeClr val="bg1"/>
                </a:solidFill>
              </a:rPr>
              <a:t>CipherController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ru-RU" sz="4400" dirty="0">
                <a:solidFill>
                  <a:schemeClr val="bg1"/>
                </a:solidFill>
              </a:rPr>
              <a:t>работает с </a:t>
            </a:r>
            <a:r>
              <a:rPr lang="en-US" sz="4400" dirty="0">
                <a:solidFill>
                  <a:schemeClr val="bg1"/>
                </a:solidFill>
              </a:rPr>
              <a:t>Cipher </a:t>
            </a:r>
            <a:r>
              <a:rPr lang="ru-RU" sz="4400" dirty="0">
                <a:solidFill>
                  <a:schemeClr val="bg1"/>
                </a:solidFill>
              </a:rPr>
              <a:t>и </a:t>
            </a:r>
            <a:r>
              <a:rPr lang="en-US" sz="4400" dirty="0" err="1">
                <a:solidFill>
                  <a:schemeClr val="bg1"/>
                </a:solidFill>
              </a:rPr>
              <a:t>TextModel</a:t>
            </a:r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err="1">
                <a:solidFill>
                  <a:schemeClr val="bg1"/>
                </a:solidFill>
              </a:rPr>
              <a:t>VernamCipher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ru-RU" sz="4400" dirty="0">
                <a:solidFill>
                  <a:schemeClr val="bg1"/>
                </a:solidFill>
              </a:rPr>
              <a:t>наследует </a:t>
            </a:r>
            <a:r>
              <a:rPr lang="en-US" sz="4400" dirty="0">
                <a:solidFill>
                  <a:schemeClr val="bg1"/>
                </a:solidFill>
              </a:rPr>
              <a:t>Cipher</a:t>
            </a:r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err="1">
                <a:solidFill>
                  <a:schemeClr val="bg1"/>
                </a:solidFill>
              </a:rPr>
              <a:t>OptionsFrame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ru-RU" sz="4400" dirty="0">
                <a:solidFill>
                  <a:schemeClr val="bg1"/>
                </a:solidFill>
              </a:rPr>
              <a:t>отвечает только за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047764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42EC-B949-79A3-B5C5-2C35C061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11EB648A-5977-8034-D269-9E1C2259388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45FEB-2EC3-ED47-9CEF-7A8D6C8E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60" y="0"/>
            <a:ext cx="10515600" cy="860564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Заключение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5BA87-368D-38A4-E567-7A9AEBF3050E}"/>
              </a:ext>
            </a:extLst>
          </p:cNvPr>
          <p:cNvSpPr txBox="1"/>
          <p:nvPr/>
        </p:nvSpPr>
        <p:spPr>
          <a:xfrm>
            <a:off x="838200" y="1613039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В ходе выполнения проекта был разработан программный продукт «Шифр </a:t>
            </a:r>
            <a:r>
              <a:rPr lang="ru-RU" sz="2000" dirty="0" err="1">
                <a:solidFill>
                  <a:schemeClr val="bg1"/>
                </a:solidFill>
              </a:rPr>
              <a:t>Вернама</a:t>
            </a:r>
            <a:r>
              <a:rPr lang="ru-RU" sz="2000" dirty="0">
                <a:solidFill>
                  <a:schemeClr val="bg1"/>
                </a:solidFill>
              </a:rPr>
              <a:t>» для шифрования и дешифрования текста на основе операции XOR.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Реализован алгоритм посимвольного преобразования, позволяющий использовать один и тот же метод как для шифрования, так и для дешифрования. Пользователь может вводить текст и задавать ключ, включая его случайную генерацию.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Тестирование подтвердило корректную работу программы. Поставленные цели достигнуты, приложение работает стабильно и может использоваться для базовой защиты текстовой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3240056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14D9-4BA9-E3FC-7029-523133B1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965ACB42-F101-8EDB-3B41-9C57574179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E2807-5735-C4E5-64C6-412F1119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564"/>
          </a:xfrm>
        </p:spPr>
        <p:txBody>
          <a:bodyPr>
            <a:no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Ссылка на репозиторий проекта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54DFB88-946F-3C78-3AE6-6816F7152956}"/>
              </a:ext>
            </a:extLst>
          </p:cNvPr>
          <p:cNvSpPr txBox="1">
            <a:spLocks/>
          </p:cNvSpPr>
          <p:nvPr/>
        </p:nvSpPr>
        <p:spPr>
          <a:xfrm>
            <a:off x="816660" y="5441951"/>
            <a:ext cx="10515600" cy="8605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>
                <a:solidFill>
                  <a:schemeClr val="bg1"/>
                </a:solidFill>
              </a:rPr>
              <a:t>Спасибо за внимание!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92560-C8DA-80B2-CA8D-4FB552B26160}"/>
              </a:ext>
            </a:extLst>
          </p:cNvPr>
          <p:cNvSpPr txBox="1"/>
          <p:nvPr/>
        </p:nvSpPr>
        <p:spPr>
          <a:xfrm>
            <a:off x="2974181" y="3025259"/>
            <a:ext cx="6196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https://github.com/VoidGl1tch/vernam-cipher 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636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775</Words>
  <Application>Microsoft Office PowerPoint</Application>
  <PresentationFormat>Широкоэкранный</PresentationFormat>
  <Paragraphs>118</Paragraphs>
  <Slides>16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Symbol</vt:lpstr>
      <vt:lpstr>Times New Roman</vt:lpstr>
      <vt:lpstr>Тема Office</vt:lpstr>
      <vt:lpstr>Проект №2.  Шифр Вернама</vt:lpstr>
      <vt:lpstr>Цель и актуальность проекта </vt:lpstr>
      <vt:lpstr>Задачи</vt:lpstr>
      <vt:lpstr>Функциональные и нефункциональные требования</vt:lpstr>
      <vt:lpstr>Используемые технологии</vt:lpstr>
      <vt:lpstr>Функционал</vt:lpstr>
      <vt:lpstr>Функционал (Ввод текста, выбор ключа):</vt:lpstr>
      <vt:lpstr>Функционал (Шифрование Дешифрование):</vt:lpstr>
      <vt:lpstr>текст обрабатывается посимвольно каждый символ переводится в числовой код: ord(ch) берётся символ ключа (с циклическим повторением): key[i % key_len] применяется операция XOR ^ результат преобразуется обратно: chr(...)  Формула шифрования C = T ⊕ K где: T — символ текста  K — символ ключа  C — зашифрованный символ </vt:lpstr>
      <vt:lpstr>Дешифрование выполняется тем же алгоритмом. к зашифрованному тексту снова применяется тот же ключ операция XOR восстанавливает исходный текст 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Ссылка на репозиторий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Костик</dc:creator>
  <cp:lastModifiedBy>Timur</cp:lastModifiedBy>
  <cp:revision>16</cp:revision>
  <dcterms:created xsi:type="dcterms:W3CDTF">2026-04-08T09:42:58Z</dcterms:created>
  <dcterms:modified xsi:type="dcterms:W3CDTF">2026-05-06T16:06:36Z</dcterms:modified>
</cp:coreProperties>
</file>