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72" r:id="rId3"/>
    <p:sldId id="278" r:id="rId4"/>
    <p:sldId id="279" r:id="rId5"/>
    <p:sldId id="280" r:id="rId6"/>
    <p:sldId id="262" r:id="rId7"/>
    <p:sldId id="263" r:id="rId8"/>
    <p:sldId id="271" r:id="rId9"/>
    <p:sldId id="276" r:id="rId10"/>
    <p:sldId id="277" r:id="rId11"/>
    <p:sldId id="269" r:id="rId12"/>
    <p:sldId id="270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Средний стиль 2 —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Средний стиль 3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Средний стиль 3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E25E649-3F16-4E02-A733-19D2CDBF48F0}" styleName="Средний стиль 3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A1C4D5-F194-4005-B60F-B7FB925AC96C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E6951F-430F-4AC5-BEC4-1CC767AF16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9142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A03F-A620-3DE9-A6B4-789F663E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0057876-1957-596D-03C4-C308B84BE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46DD14B-E6F8-8F5B-DFDD-A9EF33799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FE23F-900B-5810-94AC-379CDAB0B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28390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A03F-A620-3DE9-A6B4-789F663E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0057876-1957-596D-03C4-C308B84BE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46DD14B-E6F8-8F5B-DFDD-A9EF33799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FE23F-900B-5810-94AC-379CDAB0B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44707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A03F-A620-3DE9-A6B4-789F663E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0057876-1957-596D-03C4-C308B84BE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46DD14B-E6F8-8F5B-DFDD-A9EF33799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FE23F-900B-5810-94AC-379CDAB0B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7226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A03F-A620-3DE9-A6B4-789F663E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0057876-1957-596D-03C4-C308B84BE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46DD14B-E6F8-8F5B-DFDD-A9EF33799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FE23F-900B-5810-94AC-379CDAB0B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48119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82493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A03F-A620-3DE9-A6B4-789F663E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0057876-1957-596D-03C4-C308B84BE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46DD14B-E6F8-8F5B-DFDD-A9EF33799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FE23F-900B-5810-94AC-379CDAB0B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3395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A03F-A620-3DE9-A6B4-789F663E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0057876-1957-596D-03C4-C308B84BE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46DD14B-E6F8-8F5B-DFDD-A9EF33799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FE23F-900B-5810-94AC-379CDAB0B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68120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A03F-A620-3DE9-A6B4-789F663E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0057876-1957-596D-03C4-C308B84BE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46DD14B-E6F8-8F5B-DFDD-A9EF33799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FE23F-900B-5810-94AC-379CDAB0B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38155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2A03F-A620-3DE9-A6B4-789F663E9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0057876-1957-596D-03C4-C308B84BE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46DD14B-E6F8-8F5B-DFDD-A9EF33799E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9FE23F-900B-5810-94AC-379CDAB0BA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E6951F-430F-4AC5-BEC4-1CC767AF162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22355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A44ACA-1C4E-335D-5978-8086D6BC42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D246339D-6C41-E1E0-A0CE-38FFF98B6B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7EAD386-827C-C882-8DC7-4548E62D6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1904C1-DB24-E546-7B18-FB6F95EA5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56B9EE1-3C66-845A-734E-6BE6F0A208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20338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13FCE9-1AF2-A4EC-323A-9D892BAAC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044D9E8-F7BF-C5CD-0FBD-06CB501631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69C929A-45FB-AC3C-2AF6-0325D356A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E9A27F8-F9B3-FA51-415F-52B57C069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7591A6B-303B-2395-4D61-12FC4560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3277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933E62-91DB-F68C-40C8-A4EC7966F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197AC2F-0D61-B667-987C-DB86C60105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5067562-F5F5-861B-57DB-B36FD7438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CF806EF-06A6-85FB-39BC-425FE7345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B0A94EE-C026-C9C1-D66A-D8A6C1FA1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9028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C24210-C479-CE92-7F76-34F0F6EF0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6CE1117-2F90-C7D5-9D2C-C26DB1F834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B68A062-5B56-ADA9-87B2-5F21CDF76E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B2D0DB5-7D77-7CCB-0BBA-3F53E766B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3156FD9-328A-D1A2-275B-888A5F1E8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03C690B-475A-0E39-2A99-47FEC6F80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0654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61B1D1-811A-6EA5-2F42-4FA33AA4D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15AF090-D7FA-2554-8303-97F7A535FE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F5F6900-A4B0-F7B8-6BAA-4628A30009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EFDECBB-C5DE-AE6C-1A30-640847445B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94536E0-E414-6B69-07AF-DBEF35EEE9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0CE3ED2-A1D2-3385-1BC5-BCA573068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A1B1E99-5643-0A53-F71D-BE153B8EE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F0B4682-C557-D84D-D665-59FBA4AA2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207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277456-0B1D-70CD-851E-6353012C8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635062F-DBBA-654B-DE01-4BFF5883C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1C51E5C-B268-FA28-DF69-F69AE0626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AC2BB45-7AE2-0E9B-F24A-F5A21F7BEE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3875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B8746F5-831A-7744-C03C-FE4CFA1D8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DFB081F-DFF5-88B8-AF45-B754AF72A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5A4A5C1-DA27-90BB-5FC7-717112F07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27729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06EB3A-F633-4569-E347-3E54823570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2FEE946-65C3-910E-1B91-A6E7E74347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5CDE71E-641C-8FE6-D226-7FD40CB14B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DBD5E79-E213-CEB4-8E0D-0C52CF1AB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D35950A-1E5C-896D-DD5C-06D5C5761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14D15B-316A-CE02-AA86-32B672B7D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97857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E96CAC-285D-BC5E-4F2C-C2AEBF6EB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36620DE-D021-46D3-A69C-765A3C0B1A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66D1DB8-3FF2-94C9-CB1E-B1F45AEFD3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D460403-990E-1243-F5B1-9363FFD38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8344B75-62ED-F8C2-13BB-6F5E45BB8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24443D8-1E7C-489B-5312-8DB0A759C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1576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51C952-0AB0-F0F4-0852-C8D289D0C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27DD19A-F880-6483-45A0-E69EFF41B0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CA5BE49-6D06-9DCD-E8CB-E7BADBB06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244733D-1585-C848-B9AE-4C2DB034F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5CE831-3E6F-BB7B-9A41-84423A5B7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30680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6124FD9-E7D0-9E59-235B-03B4CE75AE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6BA2673-61A4-F4F6-03AA-FE7BFFBA34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83E7F88-4AE6-E443-E1DA-E041EE2CB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A2016E-951E-4276-9CFA-C491F5BC6E95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6B56983-2DE2-4FE7-407A-AC3037837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818B7BF-A2B3-FE41-1B4A-1DDDC6818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27904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D54A9B-F53C-77CB-FA97-39EC648A6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2ED73B5-2A15-EBD3-2520-E67885B08B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E35997F-CD4C-AE29-78D5-F3FB800983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A2016E-951E-4276-9CFA-C491F5BC6E95}" type="datetimeFigureOut">
              <a:rPr lang="ru-RU" smtClean="0"/>
              <a:t>05.05.2026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0838460-354B-75EF-E886-49099E46B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2E9FDCA-5E8C-B9B7-E467-258516D6D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8A816F-1301-481E-A8FA-C7CC3F8F0B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171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C13F759-19D2-B41F-822A-B0E64359493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" y="0"/>
            <a:ext cx="12190476" cy="6912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1902A41-6CFA-C041-2D0C-817848419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1763"/>
            <a:ext cx="9144000" cy="2387600"/>
          </a:xfrm>
        </p:spPr>
        <p:txBody>
          <a:bodyPr/>
          <a:lstStyle/>
          <a:p>
            <a:r>
              <a:rPr lang="ru-RU" b="1" dirty="0">
                <a:solidFill>
                  <a:schemeClr val="bg1"/>
                </a:solidFill>
              </a:rPr>
              <a:t>Проект №2. </a:t>
            </a:r>
            <a:br>
              <a:rPr lang="ru-RU" b="1" dirty="0">
                <a:solidFill>
                  <a:schemeClr val="bg1"/>
                </a:solidFill>
              </a:rPr>
            </a:br>
            <a:r>
              <a:rPr lang="ru-RU" b="1" dirty="0">
                <a:solidFill>
                  <a:schemeClr val="bg1"/>
                </a:solidFill>
              </a:rPr>
              <a:t>Шифр </a:t>
            </a:r>
            <a:r>
              <a:rPr lang="ru-RU" b="1" dirty="0" err="1">
                <a:solidFill>
                  <a:schemeClr val="bg1"/>
                </a:solidFill>
              </a:rPr>
              <a:t>Вернама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878A1F3-4BB8-1AFD-5C49-0617AA854C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5100" y="5070475"/>
            <a:ext cx="9144000" cy="1655762"/>
          </a:xfrm>
        </p:spPr>
        <p:txBody>
          <a:bodyPr>
            <a:normAutofit fontScale="77500" lnSpcReduction="20000"/>
          </a:bodyPr>
          <a:lstStyle/>
          <a:p>
            <a:pPr algn="l"/>
            <a:r>
              <a:rPr lang="ru-RU" dirty="0">
                <a:solidFill>
                  <a:schemeClr val="bg1"/>
                </a:solidFill>
              </a:rPr>
              <a:t>Группа: 4.407-1</a:t>
            </a:r>
          </a:p>
          <a:p>
            <a:pPr algn="l"/>
            <a:r>
              <a:rPr lang="ru-RU" dirty="0">
                <a:solidFill>
                  <a:schemeClr val="bg1"/>
                </a:solidFill>
              </a:rPr>
              <a:t>Проект подготовили: </a:t>
            </a:r>
            <a:endParaRPr lang="en-US" dirty="0">
              <a:solidFill>
                <a:schemeClr val="bg1"/>
              </a:solidFill>
            </a:endParaRPr>
          </a:p>
          <a:p>
            <a:pPr algn="l"/>
            <a:r>
              <a:rPr lang="ru-RU" dirty="0">
                <a:solidFill>
                  <a:schemeClr val="bg1"/>
                </a:solidFill>
              </a:rPr>
              <a:t>Мартынюк Артём (менеджер)</a:t>
            </a:r>
            <a:r>
              <a:rPr lang="en-US" dirty="0">
                <a:solidFill>
                  <a:schemeClr val="bg1"/>
                </a:solidFill>
              </a:rPr>
              <a:t>;</a:t>
            </a:r>
          </a:p>
          <a:p>
            <a:pPr algn="l"/>
            <a:r>
              <a:rPr lang="ru-RU" dirty="0">
                <a:solidFill>
                  <a:schemeClr val="bg1"/>
                </a:solidFill>
              </a:rPr>
              <a:t>Шуба Константин (разработчик).</a:t>
            </a:r>
            <a:endParaRPr lang="en-US" dirty="0">
              <a:solidFill>
                <a:schemeClr val="bg1"/>
              </a:solidFill>
            </a:endParaRPr>
          </a:p>
          <a:p>
            <a:pPr algn="l"/>
            <a:r>
              <a:rPr lang="ru-RU" dirty="0" err="1">
                <a:solidFill>
                  <a:schemeClr val="bg1"/>
                </a:solidFill>
              </a:rPr>
              <a:t>Фарзалиев</a:t>
            </a:r>
            <a:r>
              <a:rPr lang="ru-RU" dirty="0">
                <a:solidFill>
                  <a:schemeClr val="bg1"/>
                </a:solidFill>
              </a:rPr>
              <a:t> </a:t>
            </a:r>
            <a:r>
              <a:rPr lang="ru-RU" dirty="0" err="1">
                <a:solidFill>
                  <a:schemeClr val="bg1"/>
                </a:solidFill>
              </a:rPr>
              <a:t>Тэймур</a:t>
            </a:r>
            <a:r>
              <a:rPr lang="ru-RU" dirty="0">
                <a:solidFill>
                  <a:schemeClr val="bg1"/>
                </a:solidFill>
              </a:rPr>
              <a:t> (тестировщик)</a:t>
            </a:r>
            <a:r>
              <a:rPr lang="en-US" dirty="0">
                <a:solidFill>
                  <a:schemeClr val="bg1"/>
                </a:solidFill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1455560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EA241-3A0B-F48D-DF24-41203B41C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Объект 5">
            <a:extLst>
              <a:ext uri="{FF2B5EF4-FFF2-40B4-BE49-F238E27FC236}">
                <a16:creationId xmlns:a16="http://schemas.microsoft.com/office/drawing/2014/main" id="{678B5A6C-C803-EEE4-2B91-BA56A4CFAD5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5" name="Заголовок 14">
            <a:extLst>
              <a:ext uri="{FF2B5EF4-FFF2-40B4-BE49-F238E27FC236}">
                <a16:creationId xmlns:a16="http://schemas.microsoft.com/office/drawing/2014/main" id="{4F0177E0-DA44-3FB5-1168-370EEEE19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Цель и актуальность проекта</a:t>
            </a:r>
            <a:br>
              <a:rPr lang="ru-RU" kern="1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</a:b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6212C54A-A273-C375-0141-AEA49448614B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18" name="Объект 17">
            <a:extLst>
              <a:ext uri="{FF2B5EF4-FFF2-40B4-BE49-F238E27FC236}">
                <a16:creationId xmlns:a16="http://schemas.microsoft.com/office/drawing/2014/main" id="{82F74FB2-AC31-3592-7283-7464F53867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>
                <a:solidFill>
                  <a:schemeClr val="bg1"/>
                </a:solidFill>
              </a:rPr>
              <a:t>Цель проекта — разработка программного средства для шифрования и дешифрования текста методом XOR (шифр </a:t>
            </a:r>
            <a:r>
              <a:rPr lang="ru-RU" dirty="0" err="1">
                <a:solidFill>
                  <a:schemeClr val="bg1"/>
                </a:solidFill>
              </a:rPr>
              <a:t>Вернама</a:t>
            </a:r>
            <a:r>
              <a:rPr lang="ru-RU" dirty="0">
                <a:solidFill>
                  <a:schemeClr val="bg1"/>
                </a:solidFill>
              </a:rPr>
              <a:t>), обеспечивающего абсолютную теоретическую стойкость при правильном использовании ключа.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Актуальность проекта обусловлена необходимостью защиты конфиденциальной информации в эпоху цифровых технологий и массовых утечек данных. Большинство простых шифров (Цезаря, </a:t>
            </a:r>
            <a:r>
              <a:rPr lang="ru-RU" dirty="0" err="1">
                <a:solidFill>
                  <a:schemeClr val="bg1"/>
                </a:solidFill>
              </a:rPr>
              <a:t>Виженера</a:t>
            </a:r>
            <a:r>
              <a:rPr lang="ru-RU" dirty="0">
                <a:solidFill>
                  <a:schemeClr val="bg1"/>
                </a:solidFill>
              </a:rPr>
              <a:t>) легко взламываются частотным анализом, а современные пользователи не имеют простых инструментов для базового шифрования сообщений. Шифр </a:t>
            </a:r>
            <a:r>
              <a:rPr lang="ru-RU" dirty="0" err="1">
                <a:solidFill>
                  <a:schemeClr val="bg1"/>
                </a:solidFill>
              </a:rPr>
              <a:t>Вернама</a:t>
            </a:r>
            <a:r>
              <a:rPr lang="ru-RU" dirty="0">
                <a:solidFill>
                  <a:schemeClr val="bg1"/>
                </a:solidFill>
              </a:rPr>
              <a:t>, в отличие от них, обладает доказуемой криптостойкостью и наглядно демонстрирует принципы симметричного шифрования. Данная программа позволяет любому пользователю быстро зашифровать текст с помощью своего или случайного ключа.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10220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EA241-3A0B-F48D-DF24-41203B41C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Объект 5">
            <a:extLst>
              <a:ext uri="{FF2B5EF4-FFF2-40B4-BE49-F238E27FC236}">
                <a16:creationId xmlns:a16="http://schemas.microsoft.com/office/drawing/2014/main" id="{678B5A6C-C803-EEE4-2B91-BA56A4CFAD5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5" name="Заголовок 14">
            <a:extLst>
              <a:ext uri="{FF2B5EF4-FFF2-40B4-BE49-F238E27FC236}">
                <a16:creationId xmlns:a16="http://schemas.microsoft.com/office/drawing/2014/main" id="{4F0177E0-DA44-3FB5-1168-370EEEE19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800" b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Задачи</a:t>
            </a:r>
            <a:endParaRPr lang="ru-RU" sz="4800" dirty="0">
              <a:solidFill>
                <a:schemeClr val="bg1"/>
              </a:solidFill>
            </a:endParaRP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6212C54A-A273-C375-0141-AEA49448614B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18" name="Объект 17">
            <a:extLst>
              <a:ext uri="{FF2B5EF4-FFF2-40B4-BE49-F238E27FC236}">
                <a16:creationId xmlns:a16="http://schemas.microsoft.com/office/drawing/2014/main" id="{82F74FB2-AC31-3592-7283-7464F53867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0" indent="-342900">
              <a:lnSpc>
                <a:spcPct val="107000"/>
              </a:lnSpc>
              <a:buFont typeface="+mj-lt"/>
              <a:buAutoNum type="arabicPeriod"/>
            </a:pPr>
            <a:r>
              <a:rPr lang="ru-RU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Для достижения поставленной цели необходимо решить следующие задачи:</a:t>
            </a:r>
            <a:endParaRPr lang="ru-RU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ru-RU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Изучить теоретические основы шифра </a:t>
            </a:r>
            <a:r>
              <a:rPr lang="ru-RU" kern="10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Вернама</a:t>
            </a:r>
            <a:r>
              <a:rPr lang="ru-RU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 и свойства операции XOR</a:t>
            </a:r>
            <a:endParaRPr lang="ru-RU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ru-RU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Разработать алгоритм шифрования и дешифрования текста методом XOR</a:t>
            </a:r>
            <a:endParaRPr lang="ru-RU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ru-RU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Реализовать графический пользовательский интерфейс</a:t>
            </a:r>
            <a:endParaRPr lang="ru-RU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ru-RU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Провести тестирование программы на различных текстах</a:t>
            </a:r>
            <a:endParaRPr lang="ru-RU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001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EA241-3A0B-F48D-DF24-41203B41C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Объект 5">
            <a:extLst>
              <a:ext uri="{FF2B5EF4-FFF2-40B4-BE49-F238E27FC236}">
                <a16:creationId xmlns:a16="http://schemas.microsoft.com/office/drawing/2014/main" id="{678B5A6C-C803-EEE4-2B91-BA56A4CFAD5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5" name="Заголовок 14">
            <a:extLst>
              <a:ext uri="{FF2B5EF4-FFF2-40B4-BE49-F238E27FC236}">
                <a16:creationId xmlns:a16="http://schemas.microsoft.com/office/drawing/2014/main" id="{4F0177E0-DA44-3FB5-1168-370EEEE19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z="4800" b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Функциональные и нефункциональные требования</a:t>
            </a:r>
            <a:endParaRPr lang="ru-RU" sz="4800" dirty="0">
              <a:solidFill>
                <a:schemeClr val="bg1"/>
              </a:solidFill>
            </a:endParaRP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6212C54A-A273-C375-0141-AEA49448614B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18" name="Объект 17">
            <a:extLst>
              <a:ext uri="{FF2B5EF4-FFF2-40B4-BE49-F238E27FC236}">
                <a16:creationId xmlns:a16="http://schemas.microsoft.com/office/drawing/2014/main" id="{82F74FB2-AC31-3592-7283-7464F53867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457200">
              <a:lnSpc>
                <a:spcPct val="107000"/>
              </a:lnSpc>
            </a:pPr>
            <a:r>
              <a:rPr lang="ru-RU" sz="20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Функциональные требования:</a:t>
            </a:r>
            <a:endParaRPr lang="ru-RU" sz="20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742950" lvl="1" indent="-285750">
              <a:lnSpc>
                <a:spcPct val="107000"/>
              </a:lnSpc>
              <a:buFont typeface="+mj-lt"/>
              <a:buAutoNum type="arabicParenR"/>
            </a:pPr>
            <a:r>
              <a:rPr lang="ru-RU" sz="2000" kern="1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Шифрование и дешифрование текста методом XOR (шифр </a:t>
            </a:r>
            <a:r>
              <a:rPr lang="ru-RU" sz="2000" kern="100" dirty="0" err="1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Вернама</a:t>
            </a:r>
            <a:r>
              <a:rPr lang="ru-RU" sz="2000" kern="100" dirty="0"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)</a:t>
            </a:r>
          </a:p>
          <a:p>
            <a:pPr marL="742950" lvl="1" indent="-285750">
              <a:lnSpc>
                <a:spcPct val="107000"/>
              </a:lnSpc>
              <a:buFont typeface="+mj-lt"/>
              <a:buAutoNum type="arabicParenR"/>
            </a:pPr>
            <a:r>
              <a:rPr lang="ru-RU" sz="20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Ручной ввод открытого текста</a:t>
            </a:r>
            <a:endParaRPr lang="ru-RU" sz="20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742950" lvl="1" indent="-285750">
              <a:lnSpc>
                <a:spcPct val="107000"/>
              </a:lnSpc>
              <a:buFont typeface="+mj-lt"/>
              <a:buAutoNum type="arabicParenR"/>
            </a:pPr>
            <a:r>
              <a:rPr lang="ru-RU" sz="20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Ручной ввод ключа</a:t>
            </a:r>
            <a:endParaRPr lang="ru-RU" sz="20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742950" lvl="1" indent="-285750">
              <a:lnSpc>
                <a:spcPct val="107000"/>
              </a:lnSpc>
              <a:buFont typeface="+mj-lt"/>
              <a:buAutoNum type="arabicParenR"/>
            </a:pPr>
            <a:r>
              <a:rPr lang="ru-RU" sz="20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Генерация случайного ключа</a:t>
            </a:r>
            <a:endParaRPr lang="ru-RU" sz="20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742950" lvl="1" indent="-285750">
              <a:lnSpc>
                <a:spcPct val="107000"/>
              </a:lnSpc>
              <a:buFont typeface="+mj-lt"/>
              <a:buAutoNum type="arabicParenR"/>
            </a:pPr>
            <a:r>
              <a:rPr lang="ru-RU" sz="20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Отображение результата шифрования/дешифрования в текстовом поле </a:t>
            </a:r>
            <a:endParaRPr lang="ru-RU" sz="20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449580">
              <a:lnSpc>
                <a:spcPct val="107000"/>
              </a:lnSpc>
            </a:pPr>
            <a:r>
              <a:rPr lang="ru-RU" sz="20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Нефункциональные требования:</a:t>
            </a:r>
            <a:endParaRPr lang="ru-RU" sz="20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07000"/>
              </a:lnSpc>
              <a:buFont typeface="+mj-lt"/>
              <a:buAutoNum type="arabicParenR"/>
            </a:pPr>
            <a:r>
              <a:rPr lang="ru-RU" sz="20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Простота и удобство интерфейса</a:t>
            </a:r>
            <a:endParaRPr lang="ru-RU" sz="20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07000"/>
              </a:lnSpc>
              <a:buFont typeface="+mj-lt"/>
              <a:buAutoNum type="arabicParenR"/>
            </a:pPr>
            <a:r>
              <a:rPr lang="ru-RU" sz="20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Быстрая работа программы</a:t>
            </a:r>
            <a:endParaRPr lang="ru-RU" sz="20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07000"/>
              </a:lnSpc>
              <a:buFont typeface="+mj-lt"/>
              <a:buAutoNum type="arabicParenR"/>
            </a:pPr>
            <a:r>
              <a:rPr lang="ru-RU" sz="20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Абсолютная криптостойкость при условии одноразового использования длинного ключа</a:t>
            </a:r>
            <a:endParaRPr lang="ru-RU" sz="20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07000"/>
              </a:lnSpc>
              <a:buFont typeface="+mj-lt"/>
              <a:buAutoNum type="arabicParenR"/>
            </a:pPr>
            <a:r>
              <a:rPr lang="ru-RU" sz="20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Минимальные требования к ресурсам устройства</a:t>
            </a:r>
            <a:endParaRPr lang="ru-RU" sz="20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arenR"/>
            </a:pPr>
            <a:r>
              <a:rPr lang="ru-RU" sz="20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Кроссплатформенность (</a:t>
            </a:r>
            <a:r>
              <a:rPr lang="en-US" sz="20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Windows, Linux, macOS)</a:t>
            </a:r>
            <a:endParaRPr lang="ru-RU" sz="20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8078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EA241-3A0B-F48D-DF24-41203B41C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Объект 5">
            <a:extLst>
              <a:ext uri="{FF2B5EF4-FFF2-40B4-BE49-F238E27FC236}">
                <a16:creationId xmlns:a16="http://schemas.microsoft.com/office/drawing/2014/main" id="{678B5A6C-C803-EEE4-2B91-BA56A4CFAD5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5" name="Заголовок 14">
            <a:extLst>
              <a:ext uri="{FF2B5EF4-FFF2-40B4-BE49-F238E27FC236}">
                <a16:creationId xmlns:a16="http://schemas.microsoft.com/office/drawing/2014/main" id="{4F0177E0-DA44-3FB5-1168-370EEEE19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>
              <a:lnSpc>
                <a:spcPct val="107000"/>
              </a:lnSpc>
              <a:spcAft>
                <a:spcPts val="800"/>
              </a:spcAft>
            </a:pPr>
            <a:r>
              <a:rPr lang="ru-RU" b="1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Используемые технологии</a:t>
            </a:r>
            <a:endParaRPr lang="ru-RU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6212C54A-A273-C375-0141-AEA49448614B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18" name="Объект 17">
            <a:extLst>
              <a:ext uri="{FF2B5EF4-FFF2-40B4-BE49-F238E27FC236}">
                <a16:creationId xmlns:a16="http://schemas.microsoft.com/office/drawing/2014/main" id="{82F74FB2-AC31-3592-7283-7464F53867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ru-RU" sz="36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Python — простой и быстрый для разработки</a:t>
            </a:r>
            <a:endParaRPr lang="ru-RU" sz="36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07000"/>
              </a:lnSpc>
              <a:buFont typeface="Symbol" panose="05050102010706020507" pitchFamily="18" charset="2"/>
              <a:buChar char=""/>
            </a:pPr>
            <a:r>
              <a:rPr lang="ru-RU" sz="36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PyQt6 — создание графического интерфейса</a:t>
            </a:r>
            <a:endParaRPr lang="ru-RU" sz="36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ru-RU" sz="3600" kern="100" dirty="0" err="1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GitHub</a:t>
            </a:r>
            <a:r>
              <a:rPr lang="ru-RU" sz="3600" kern="1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onsolas" panose="020B0609020204030204" pitchFamily="49" charset="0"/>
              </a:rPr>
              <a:t> — совместная работа</a:t>
            </a:r>
            <a:endParaRPr lang="ru-RU" sz="3600" kern="100" dirty="0">
              <a:solidFill>
                <a:schemeClr val="bg1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9502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C4CCE-57A4-787D-A3AD-E68EA39F0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1306F53B-9E87-511A-C649-F08D0267883F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080" y="0"/>
            <a:ext cx="12235080" cy="6876000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0ECC5D-C483-D7A7-CFB6-8E9E720B3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ru-RU" sz="5400" b="1" dirty="0">
                <a:solidFill>
                  <a:schemeClr val="bg1"/>
                </a:solidFill>
              </a:rPr>
              <a:t>Функционал</a:t>
            </a:r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2972A8-1F8B-FAD1-9C54-61B2BB9678ED}"/>
              </a:ext>
            </a:extLst>
          </p:cNvPr>
          <p:cNvSpPr txBox="1"/>
          <p:nvPr/>
        </p:nvSpPr>
        <p:spPr>
          <a:xfrm>
            <a:off x="6453879" y="1396289"/>
            <a:ext cx="5422002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Строка заголовка (название программы)</a:t>
            </a:r>
            <a:r>
              <a:rPr lang="en-US" dirty="0">
                <a:solidFill>
                  <a:schemeClr val="bg1"/>
                </a:solidFill>
              </a:rPr>
              <a:t>;</a:t>
            </a:r>
            <a:endParaRPr lang="ru-RU" sz="1200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Поле ввода 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Поле ввода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кнопка </a:t>
            </a:r>
            <a:r>
              <a:rPr lang="ru-RU" dirty="0" err="1">
                <a:solidFill>
                  <a:schemeClr val="bg1"/>
                </a:solidFill>
              </a:rPr>
              <a:t>рандомный</a:t>
            </a:r>
            <a:r>
              <a:rPr lang="ru-RU" dirty="0">
                <a:solidFill>
                  <a:schemeClr val="bg1"/>
                </a:solidFill>
              </a:rPr>
              <a:t> ключ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Кнопка шифрования и дешифрования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Поле вывода (только для чтения)</a:t>
            </a:r>
          </a:p>
        </p:txBody>
      </p: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3A9A1450-48D0-DC7F-C91E-2A411397619C}"/>
              </a:ext>
            </a:extLst>
          </p:cNvPr>
          <p:cNvCxnSpPr>
            <a:cxnSpLocks/>
          </p:cNvCxnSpPr>
          <p:nvPr/>
        </p:nvCxnSpPr>
        <p:spPr>
          <a:xfrm flipH="1">
            <a:off x="5756276" y="1609725"/>
            <a:ext cx="777874" cy="0"/>
          </a:xfrm>
          <a:prstGeom prst="straightConnector1">
            <a:avLst/>
          </a:prstGeom>
          <a:ln w="666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76A4346-F9DD-6055-A368-14342064E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675" y="1396289"/>
            <a:ext cx="4744112" cy="5096586"/>
          </a:xfrm>
          <a:prstGeom prst="rect">
            <a:avLst/>
          </a:prstGeom>
        </p:spPr>
      </p:pic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292C22B3-3956-4266-08A7-E332B429E4B9}"/>
              </a:ext>
            </a:extLst>
          </p:cNvPr>
          <p:cNvCxnSpPr>
            <a:cxnSpLocks/>
          </p:cNvCxnSpPr>
          <p:nvPr/>
        </p:nvCxnSpPr>
        <p:spPr>
          <a:xfrm flipH="1">
            <a:off x="5566915" y="2390775"/>
            <a:ext cx="967235" cy="0"/>
          </a:xfrm>
          <a:prstGeom prst="straightConnector1">
            <a:avLst/>
          </a:prstGeom>
          <a:ln w="666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260DCBCB-C5E8-2D03-23B6-9A55F7C0E581}"/>
              </a:ext>
            </a:extLst>
          </p:cNvPr>
          <p:cNvCxnSpPr>
            <a:cxnSpLocks/>
          </p:cNvCxnSpPr>
          <p:nvPr/>
        </p:nvCxnSpPr>
        <p:spPr>
          <a:xfrm flipH="1">
            <a:off x="5476875" y="4591050"/>
            <a:ext cx="1057275" cy="0"/>
          </a:xfrm>
          <a:prstGeom prst="straightConnector1">
            <a:avLst/>
          </a:prstGeom>
          <a:ln w="666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8B7053E6-B387-E672-DA13-57C94FB23D3E}"/>
              </a:ext>
            </a:extLst>
          </p:cNvPr>
          <p:cNvCxnSpPr>
            <a:cxnSpLocks/>
          </p:cNvCxnSpPr>
          <p:nvPr/>
        </p:nvCxnSpPr>
        <p:spPr>
          <a:xfrm flipH="1">
            <a:off x="5566915" y="5095875"/>
            <a:ext cx="967235" cy="0"/>
          </a:xfrm>
          <a:prstGeom prst="straightConnector1">
            <a:avLst/>
          </a:prstGeom>
          <a:ln w="666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7B0A6DCB-80CC-288A-70A9-452AC62EE86B}"/>
              </a:ext>
            </a:extLst>
          </p:cNvPr>
          <p:cNvCxnSpPr>
            <a:cxnSpLocks/>
          </p:cNvCxnSpPr>
          <p:nvPr/>
        </p:nvCxnSpPr>
        <p:spPr>
          <a:xfrm flipH="1">
            <a:off x="5391150" y="6296025"/>
            <a:ext cx="1143000" cy="0"/>
          </a:xfrm>
          <a:prstGeom prst="straightConnector1">
            <a:avLst/>
          </a:prstGeom>
          <a:ln w="666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" name="Прямая со стрелкой 2">
            <a:extLst>
              <a:ext uri="{FF2B5EF4-FFF2-40B4-BE49-F238E27FC236}">
                <a16:creationId xmlns:a16="http://schemas.microsoft.com/office/drawing/2014/main" id="{5FD70F06-C2B2-A33E-C604-574147D48D88}"/>
              </a:ext>
            </a:extLst>
          </p:cNvPr>
          <p:cNvCxnSpPr>
            <a:cxnSpLocks/>
          </p:cNvCxnSpPr>
          <p:nvPr/>
        </p:nvCxnSpPr>
        <p:spPr>
          <a:xfrm flipH="1">
            <a:off x="5391150" y="3771900"/>
            <a:ext cx="1057275" cy="0"/>
          </a:xfrm>
          <a:prstGeom prst="straightConnector1">
            <a:avLst/>
          </a:prstGeom>
          <a:ln w="66675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0303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EA241-3A0B-F48D-DF24-41203B41C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678B5A6C-C803-EEE4-2B91-BA56A4CFAD5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080" y="0"/>
            <a:ext cx="12235080" cy="6876000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6213DA-1B87-C057-3822-F17B34AF1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5400" b="1" dirty="0">
                <a:solidFill>
                  <a:schemeClr val="bg1"/>
                </a:solidFill>
              </a:rPr>
              <a:t>Функционал (Ввод текста, выбор ключа):</a:t>
            </a:r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786452-671E-E2B8-55FF-2466A3437750}"/>
              </a:ext>
            </a:extLst>
          </p:cNvPr>
          <p:cNvSpPr txBox="1"/>
          <p:nvPr/>
        </p:nvSpPr>
        <p:spPr>
          <a:xfrm>
            <a:off x="1061348" y="1852231"/>
            <a:ext cx="54220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E1E3E6"/>
                </a:solidFill>
                <a:latin typeface="-apple-system"/>
              </a:rPr>
              <a:t>З</a:t>
            </a:r>
            <a:r>
              <a:rPr lang="ru-RU" b="0" i="0" dirty="0">
                <a:solidFill>
                  <a:srgbClr val="E1E3E6"/>
                </a:solidFill>
                <a:effectLst/>
                <a:latin typeface="-apple-system"/>
              </a:rPr>
              <a:t>адаём текст в окне ввода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861BDA-0A0A-32A9-9888-97BE2B37DFC5}"/>
              </a:ext>
            </a:extLst>
          </p:cNvPr>
          <p:cNvSpPr txBox="1"/>
          <p:nvPr/>
        </p:nvSpPr>
        <p:spPr>
          <a:xfrm>
            <a:off x="7051677" y="1690687"/>
            <a:ext cx="37845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0" i="0" dirty="0">
                <a:solidFill>
                  <a:srgbClr val="E1E3E6"/>
                </a:solidFill>
                <a:effectLst/>
                <a:latin typeface="-apple-system"/>
              </a:rPr>
              <a:t>После мы выбираем в счётчике ключ, либо задаём его рандомно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A59B11-36B7-464A-4774-1F44C0ABC992}"/>
              </a:ext>
            </a:extLst>
          </p:cNvPr>
          <p:cNvSpPr txBox="1"/>
          <p:nvPr/>
        </p:nvSpPr>
        <p:spPr>
          <a:xfrm>
            <a:off x="2353088" y="6229669"/>
            <a:ext cx="74849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функция (</a:t>
            </a:r>
            <a:r>
              <a:rPr lang="ru-RU" sz="2400" b="1" dirty="0">
                <a:solidFill>
                  <a:schemeClr val="bg1"/>
                </a:solidFill>
              </a:rPr>
              <a:t>Ввод текста, выбор ключа</a:t>
            </a:r>
            <a:r>
              <a:rPr lang="ru-RU" sz="2400" dirty="0">
                <a:solidFill>
                  <a:schemeClr val="bg1"/>
                </a:solidFill>
              </a:rPr>
              <a:t>) работает успешно</a:t>
            </a:r>
            <a:endParaRPr lang="ru-RU" sz="2400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94C2CE4-F308-8D59-10EF-138A98F8D4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2991" y="2308812"/>
            <a:ext cx="3733285" cy="4003161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AA8BF1A-6698-7BC0-E847-721149D2E5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1310" y="2221693"/>
            <a:ext cx="3784598" cy="4044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11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EA241-3A0B-F48D-DF24-41203B41C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678B5A6C-C803-EEE4-2B91-BA56A4CFAD5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080" y="0"/>
            <a:ext cx="12235080" cy="6876000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6213DA-1B87-C057-3822-F17B34AF1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b="1" dirty="0">
                <a:solidFill>
                  <a:schemeClr val="bg1"/>
                </a:solidFill>
              </a:rPr>
              <a:t>Функционал (Шифрование Дешифрование):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786452-671E-E2B8-55FF-2466A3437750}"/>
              </a:ext>
            </a:extLst>
          </p:cNvPr>
          <p:cNvSpPr txBox="1"/>
          <p:nvPr/>
        </p:nvSpPr>
        <p:spPr>
          <a:xfrm>
            <a:off x="2097671" y="1312643"/>
            <a:ext cx="54220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rgbClr val="E1E3E6"/>
                </a:solidFill>
                <a:latin typeface="-apple-system"/>
              </a:rPr>
              <a:t>Шифрование</a:t>
            </a:r>
            <a:r>
              <a:rPr lang="ru-RU" sz="2400" dirty="0">
                <a:solidFill>
                  <a:schemeClr val="bg1"/>
                </a:solidFill>
              </a:rPr>
              <a:t> 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861BDA-0A0A-32A9-9888-97BE2B37DFC5}"/>
              </a:ext>
            </a:extLst>
          </p:cNvPr>
          <p:cNvSpPr txBox="1"/>
          <p:nvPr/>
        </p:nvSpPr>
        <p:spPr>
          <a:xfrm>
            <a:off x="7234557" y="1312643"/>
            <a:ext cx="37845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Дешифрование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A59B11-36B7-464A-4774-1F44C0ABC992}"/>
              </a:ext>
            </a:extLst>
          </p:cNvPr>
          <p:cNvSpPr txBox="1"/>
          <p:nvPr/>
        </p:nvSpPr>
        <p:spPr>
          <a:xfrm>
            <a:off x="2144089" y="6221875"/>
            <a:ext cx="7860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Функция (Шифрование Дешифрование) работает успешно</a:t>
            </a:r>
            <a:endParaRPr lang="ru-RU" sz="24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D11ACEA-6A86-5937-E47C-D55335B2C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811" y="1899699"/>
            <a:ext cx="3919430" cy="421005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C89D293-5806-0E2B-1288-AFA9EEC2AE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4460" y="1851052"/>
            <a:ext cx="4027523" cy="4334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1521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EA241-3A0B-F48D-DF24-41203B41C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678B5A6C-C803-EEE4-2B91-BA56A4CFAD5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76200"/>
            <a:ext cx="12192000" cy="6934200"/>
          </a:xfrm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6212C54A-A273-C375-0141-AEA49448614B}"/>
              </a:ext>
            </a:extLst>
          </p:cNvPr>
          <p:cNvSpPr txBox="1">
            <a:spLocks/>
          </p:cNvSpPr>
          <p:nvPr/>
        </p:nvSpPr>
        <p:spPr>
          <a:xfrm>
            <a:off x="2295525" y="6350"/>
            <a:ext cx="10515600" cy="358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200" b="1" dirty="0">
                <a:solidFill>
                  <a:schemeClr val="bg1"/>
                </a:solidFill>
              </a:rPr>
              <a:t>Описание работы программы(шифрование)</a:t>
            </a:r>
            <a:endParaRPr lang="ru-RU" sz="3200" dirty="0">
              <a:solidFill>
                <a:schemeClr val="bg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C302C663-4600-B640-F601-07992A726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467" y="2549006"/>
            <a:ext cx="6146258" cy="2960138"/>
          </a:xfrm>
        </p:spPr>
        <p:txBody>
          <a:bodyPr>
            <a:noAutofit/>
          </a:bodyPr>
          <a:lstStyle/>
          <a:p>
            <a: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  <a:t>текст обрабатывается посимвольно</a:t>
            </a:r>
            <a:b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</a:br>
            <a: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  <a:t>каждый символ переводится в числовой код: </a:t>
            </a:r>
            <a:r>
              <a:rPr lang="ru-RU" sz="2800" b="0" i="0" dirty="0" err="1">
                <a:solidFill>
                  <a:srgbClr val="E1E3E6"/>
                </a:solidFill>
                <a:effectLst/>
                <a:latin typeface="-apple-system"/>
              </a:rPr>
              <a:t>ord</a:t>
            </a:r>
            <a: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  <a:t>(</a:t>
            </a:r>
            <a:r>
              <a:rPr lang="ru-RU" sz="2800" b="0" i="0" dirty="0" err="1">
                <a:solidFill>
                  <a:srgbClr val="E1E3E6"/>
                </a:solidFill>
                <a:effectLst/>
                <a:latin typeface="-apple-system"/>
              </a:rPr>
              <a:t>ch</a:t>
            </a:r>
            <a: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  <a:t>)</a:t>
            </a:r>
            <a:b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</a:br>
            <a: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  <a:t>берётся символ ключа (с циклическим повторением): </a:t>
            </a:r>
            <a:r>
              <a:rPr lang="ru-RU" sz="2800" b="0" i="0" dirty="0" err="1">
                <a:solidFill>
                  <a:srgbClr val="E1E3E6"/>
                </a:solidFill>
                <a:effectLst/>
                <a:latin typeface="-apple-system"/>
              </a:rPr>
              <a:t>key</a:t>
            </a:r>
            <a: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  <a:t>[i % </a:t>
            </a:r>
            <a:r>
              <a:rPr lang="ru-RU" sz="2800" b="0" i="0" dirty="0" err="1">
                <a:solidFill>
                  <a:srgbClr val="E1E3E6"/>
                </a:solidFill>
                <a:effectLst/>
                <a:latin typeface="-apple-system"/>
              </a:rPr>
              <a:t>key_len</a:t>
            </a:r>
            <a: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  <a:t>]</a:t>
            </a:r>
            <a:b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</a:br>
            <a: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  <a:t>применяется операция XOR ^</a:t>
            </a:r>
            <a:b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</a:br>
            <a: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  <a:t>результат преобразуется обратно: </a:t>
            </a:r>
            <a:r>
              <a:rPr lang="ru-RU" sz="2800" b="0" i="0" dirty="0" err="1">
                <a:solidFill>
                  <a:srgbClr val="E1E3E6"/>
                </a:solidFill>
                <a:effectLst/>
                <a:latin typeface="-apple-system"/>
              </a:rPr>
              <a:t>chr</a:t>
            </a:r>
            <a: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  <a:t>(...)</a:t>
            </a:r>
            <a:br>
              <a:rPr lang="ru-RU" sz="2800" b="0" i="0" dirty="0">
                <a:solidFill>
                  <a:srgbClr val="E1E3E6"/>
                </a:solidFill>
                <a:effectLst/>
                <a:latin typeface="-apple-system"/>
              </a:rPr>
            </a:br>
            <a:br>
              <a:rPr lang="ru-RU" sz="1800" b="0" i="0" dirty="0">
                <a:solidFill>
                  <a:schemeClr val="bg1"/>
                </a:solidFill>
                <a:effectLst/>
                <a:latin typeface="-apple-system"/>
              </a:rPr>
            </a:br>
            <a:r>
              <a:rPr lang="ru-RU" sz="2800" b="1" dirty="0">
                <a:solidFill>
                  <a:schemeClr val="bg1"/>
                </a:solidFill>
              </a:rPr>
              <a:t>Формула шифрования</a:t>
            </a:r>
            <a:br>
              <a:rPr lang="ru-RU" sz="2800" b="1" dirty="0">
                <a:solidFill>
                  <a:schemeClr val="bg1"/>
                </a:solidFill>
              </a:rPr>
            </a:br>
            <a:r>
              <a:rPr lang="ru-RU" sz="2800" dirty="0">
                <a:solidFill>
                  <a:schemeClr val="bg1"/>
                </a:solidFill>
              </a:rPr>
              <a:t>C = T ⊕ K</a:t>
            </a:r>
            <a:br>
              <a:rPr lang="ru-RU" sz="2800" dirty="0">
                <a:solidFill>
                  <a:schemeClr val="bg1"/>
                </a:solidFill>
              </a:rPr>
            </a:br>
            <a:r>
              <a:rPr lang="ru-RU" sz="2800" dirty="0">
                <a:solidFill>
                  <a:schemeClr val="bg1"/>
                </a:solidFill>
              </a:rPr>
              <a:t>где:</a:t>
            </a:r>
            <a:br>
              <a:rPr lang="ru-RU" sz="2800" dirty="0">
                <a:solidFill>
                  <a:schemeClr val="bg1"/>
                </a:solidFill>
              </a:rPr>
            </a:br>
            <a:r>
              <a:rPr lang="ru-RU" sz="2800" dirty="0">
                <a:solidFill>
                  <a:schemeClr val="bg1"/>
                </a:solidFill>
              </a:rPr>
              <a:t>T — символ текста </a:t>
            </a:r>
            <a:br>
              <a:rPr lang="ru-RU" sz="2800" dirty="0">
                <a:solidFill>
                  <a:schemeClr val="bg1"/>
                </a:solidFill>
              </a:rPr>
            </a:br>
            <a:r>
              <a:rPr lang="ru-RU" sz="2800" dirty="0">
                <a:solidFill>
                  <a:schemeClr val="bg1"/>
                </a:solidFill>
              </a:rPr>
              <a:t>K — символ ключа </a:t>
            </a:r>
            <a:br>
              <a:rPr lang="ru-RU" sz="2800" dirty="0">
                <a:solidFill>
                  <a:schemeClr val="bg1"/>
                </a:solidFill>
              </a:rPr>
            </a:br>
            <a:r>
              <a:rPr lang="ru-RU" sz="2800" dirty="0">
                <a:solidFill>
                  <a:schemeClr val="bg1"/>
                </a:solidFill>
              </a:rPr>
              <a:t>C — зашифрованный символ</a:t>
            </a:r>
            <a:br>
              <a:rPr lang="ru-RU" sz="2800" dirty="0">
                <a:solidFill>
                  <a:schemeClr val="bg1"/>
                </a:solidFill>
              </a:rPr>
            </a:br>
            <a:endParaRPr lang="ru-RU" sz="2800" dirty="0">
              <a:solidFill>
                <a:schemeClr val="bg1"/>
              </a:solidFill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FD18B75-BE1A-9406-F02C-8C3A53589A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192" r="22448"/>
          <a:stretch/>
        </p:blipFill>
        <p:spPr>
          <a:xfrm>
            <a:off x="6800850" y="1256997"/>
            <a:ext cx="5069934" cy="434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5797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EA241-3A0B-F48D-DF24-41203B41C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678B5A6C-C803-EEE4-2B91-BA56A4CFAD5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76200"/>
            <a:ext cx="12192000" cy="6934200"/>
          </a:xfrm>
        </p:spPr>
      </p:pic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6212C54A-A273-C375-0141-AEA49448614B}"/>
              </a:ext>
            </a:extLst>
          </p:cNvPr>
          <p:cNvSpPr txBox="1">
            <a:spLocks/>
          </p:cNvSpPr>
          <p:nvPr/>
        </p:nvSpPr>
        <p:spPr>
          <a:xfrm>
            <a:off x="2295525" y="6350"/>
            <a:ext cx="10515600" cy="358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200" b="1" dirty="0">
                <a:solidFill>
                  <a:schemeClr val="bg1"/>
                </a:solidFill>
              </a:rPr>
              <a:t>Описание работы программы(Дешифрование)</a:t>
            </a:r>
            <a:endParaRPr lang="ru-RU" sz="3200" dirty="0">
              <a:solidFill>
                <a:schemeClr val="bg1"/>
              </a:solidFill>
            </a:endParaRP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C302C663-4600-B640-F601-07992A726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3192" y="1910831"/>
            <a:ext cx="5981194" cy="2960138"/>
          </a:xfrm>
        </p:spPr>
        <p:txBody>
          <a:bodyPr>
            <a:noAutofit/>
          </a:bodyPr>
          <a:lstStyle/>
          <a:p>
            <a:r>
              <a:rPr lang="ru-RU" sz="2800" dirty="0">
                <a:solidFill>
                  <a:schemeClr val="bg1"/>
                </a:solidFill>
              </a:rPr>
              <a:t>Дешифрование выполняется тем же алгоритмом.</a:t>
            </a:r>
            <a:br>
              <a:rPr lang="ru-RU" sz="2800" dirty="0">
                <a:solidFill>
                  <a:schemeClr val="bg1"/>
                </a:solidFill>
              </a:rPr>
            </a:br>
            <a:r>
              <a:rPr lang="ru-RU" sz="2800" dirty="0">
                <a:solidFill>
                  <a:schemeClr val="bg1"/>
                </a:solidFill>
              </a:rPr>
              <a:t>к зашифрованному тексту снова применяется тот же ключ</a:t>
            </a:r>
            <a:br>
              <a:rPr lang="ru-RU" sz="2800" dirty="0">
                <a:solidFill>
                  <a:schemeClr val="bg1"/>
                </a:solidFill>
              </a:rPr>
            </a:br>
            <a:r>
              <a:rPr lang="ru-RU" sz="2800" dirty="0">
                <a:solidFill>
                  <a:schemeClr val="bg1"/>
                </a:solidFill>
              </a:rPr>
              <a:t>операция XOR восстанавливает исходный текст</a:t>
            </a:r>
            <a:br>
              <a:rPr lang="ru-RU" sz="2800" dirty="0">
                <a:solidFill>
                  <a:schemeClr val="bg1"/>
                </a:solidFill>
              </a:rPr>
            </a:br>
            <a:endParaRPr lang="ru-RU" sz="2800" dirty="0">
              <a:solidFill>
                <a:schemeClr val="bg1"/>
              </a:solidFill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FC6DCC0-0F8E-2715-D442-26C60CC53A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192" r="22448"/>
          <a:stretch/>
        </p:blipFill>
        <p:spPr>
          <a:xfrm>
            <a:off x="6553199" y="1439559"/>
            <a:ext cx="5069934" cy="434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882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42EC-B949-79A3-B5C5-2C35C061E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11EB648A-5977-8034-D269-9E1C2259388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080" y="0"/>
            <a:ext cx="12235080" cy="6876000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4045FEB-2EC3-ED47-9CEF-7A8D6C8EA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660" y="0"/>
            <a:ext cx="10515600" cy="860564"/>
          </a:xfrm>
        </p:spPr>
        <p:txBody>
          <a:bodyPr>
            <a:noAutofit/>
          </a:bodyPr>
          <a:lstStyle/>
          <a:p>
            <a:r>
              <a:rPr lang="ru-RU" sz="5400" b="1" dirty="0">
                <a:solidFill>
                  <a:schemeClr val="bg1"/>
                </a:solidFill>
              </a:rPr>
              <a:t>Заключение</a:t>
            </a:r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45BA87-368D-38A4-E567-7A9AEBF3050E}"/>
              </a:ext>
            </a:extLst>
          </p:cNvPr>
          <p:cNvSpPr txBox="1"/>
          <p:nvPr/>
        </p:nvSpPr>
        <p:spPr>
          <a:xfrm>
            <a:off x="838200" y="1613039"/>
            <a:ext cx="10515600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chemeClr val="bg1"/>
                </a:solidFill>
              </a:rPr>
              <a:t>В ходе выполнения проекта был разработан программный продукт «Шифр </a:t>
            </a:r>
            <a:r>
              <a:rPr lang="ru-RU" sz="2000" dirty="0" err="1">
                <a:solidFill>
                  <a:schemeClr val="bg1"/>
                </a:solidFill>
              </a:rPr>
              <a:t>Вернама</a:t>
            </a:r>
            <a:r>
              <a:rPr lang="ru-RU" sz="2000" dirty="0">
                <a:solidFill>
                  <a:schemeClr val="bg1"/>
                </a:solidFill>
              </a:rPr>
              <a:t>», предназначенный для шифрования и дешифрования данных с использованием симметричного алгоритма на основе операции XOR.В процессе работы были определены требования к программе и реализован алгоритм преобразования текста, основанный на посимвольной обработке и применении операции XOR. Программа позволяет выполнять шифрование и дешифрование с использованием одного и того же алгоритма, что упрощает работу с данными.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ru-RU" sz="2000" dirty="0">
                <a:solidFill>
                  <a:schemeClr val="bg1"/>
                </a:solidFill>
              </a:rPr>
              <a:t>Пользователь может ввести исходный текст и задать ключ шифрования, включая возможность генерации случайного ключа. При выполнении операции каждый символ текста преобразуется, что обеспечивает получение зашифрованного результата и его последующее восстановление.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ru-RU" sz="2000" dirty="0">
                <a:solidFill>
                  <a:schemeClr val="bg1"/>
                </a:solidFill>
              </a:rPr>
              <a:t>Проведённое тестирование показало корректную работу всех функций программы. Все основные сценарии использования были успешно реализованы.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ru-RU" sz="2000" dirty="0">
                <a:solidFill>
                  <a:schemeClr val="bg1"/>
                </a:solidFill>
              </a:rPr>
              <a:t>Поставленные цель и задачи проекта достигнуты. Разработанное приложение функционирует стабильно и может применяться для базовой защиты текстовой информации.</a:t>
            </a:r>
          </a:p>
        </p:txBody>
      </p:sp>
    </p:spTree>
    <p:extLst>
      <p:ext uri="{BB962C8B-B14F-4D97-AF65-F5344CB8AC3E}">
        <p14:creationId xmlns:p14="http://schemas.microsoft.com/office/powerpoint/2010/main" val="32400568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214D9-4BA9-E3FC-7029-523133B16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Объект 5">
            <a:extLst>
              <a:ext uri="{FF2B5EF4-FFF2-40B4-BE49-F238E27FC236}">
                <a16:creationId xmlns:a16="http://schemas.microsoft.com/office/drawing/2014/main" id="{965ACB42-F101-8EDB-3B41-9C57574179F1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080" y="0"/>
            <a:ext cx="12235080" cy="6876000"/>
          </a:xfr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EE2807-5735-C4E5-64C6-412F11196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60564"/>
          </a:xfrm>
        </p:spPr>
        <p:txBody>
          <a:bodyPr>
            <a:noAutofit/>
          </a:bodyPr>
          <a:lstStyle/>
          <a:p>
            <a:pPr algn="ctr"/>
            <a:r>
              <a:rPr lang="ru-RU" sz="5400" b="1" dirty="0">
                <a:solidFill>
                  <a:schemeClr val="bg1"/>
                </a:solidFill>
              </a:rPr>
              <a:t>Ссылка на репозиторий проекта</a:t>
            </a:r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154DFB88-946F-3C78-3AE6-6816F7152956}"/>
              </a:ext>
            </a:extLst>
          </p:cNvPr>
          <p:cNvSpPr txBox="1">
            <a:spLocks/>
          </p:cNvSpPr>
          <p:nvPr/>
        </p:nvSpPr>
        <p:spPr>
          <a:xfrm>
            <a:off x="816660" y="5441951"/>
            <a:ext cx="10515600" cy="8605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5400" b="1" dirty="0">
                <a:solidFill>
                  <a:schemeClr val="bg1"/>
                </a:solidFill>
              </a:rPr>
              <a:t>Спасибо за внимание!</a:t>
            </a:r>
            <a:endParaRPr lang="ru-RU" sz="54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392560-C8DA-80B2-CA8D-4FB552B26160}"/>
              </a:ext>
            </a:extLst>
          </p:cNvPr>
          <p:cNvSpPr txBox="1"/>
          <p:nvPr/>
        </p:nvSpPr>
        <p:spPr>
          <a:xfrm>
            <a:off x="2974181" y="3025259"/>
            <a:ext cx="619601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i="0" u="none" strike="noStrike" dirty="0">
                <a:solidFill>
                  <a:schemeClr val="bg1"/>
                </a:solidFill>
                <a:effectLst/>
                <a:latin typeface="-apple-system"/>
              </a:rPr>
              <a:t>https://github.com/VoidGl1tch/vernam-cipher </a:t>
            </a:r>
            <a:endParaRPr lang="ru-RU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963686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</TotalTime>
  <Words>605</Words>
  <Application>Microsoft Office PowerPoint</Application>
  <PresentationFormat>Широкоэкранный</PresentationFormat>
  <Paragraphs>78</Paragraphs>
  <Slides>12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9" baseType="lpstr">
      <vt:lpstr>-apple-system</vt:lpstr>
      <vt:lpstr>Arial</vt:lpstr>
      <vt:lpstr>Calibri</vt:lpstr>
      <vt:lpstr>Calibri Light</vt:lpstr>
      <vt:lpstr>Symbol</vt:lpstr>
      <vt:lpstr>Times New Roman</vt:lpstr>
      <vt:lpstr>Тема Office</vt:lpstr>
      <vt:lpstr>Проект №2.  Шифр Вернама</vt:lpstr>
      <vt:lpstr>Цель и актуальность проекта </vt:lpstr>
      <vt:lpstr>Задачи</vt:lpstr>
      <vt:lpstr>Функциональные и нефункциональные требования</vt:lpstr>
      <vt:lpstr>Используемые технологии</vt:lpstr>
      <vt:lpstr>Функционал</vt:lpstr>
      <vt:lpstr>Функционал (Ввод текста, выбор ключа):</vt:lpstr>
      <vt:lpstr>Функционал (Шифрование Дешифрование):</vt:lpstr>
      <vt:lpstr>текст обрабатывается посимвольно каждый символ переводится в числовой код: ord(ch) берётся символ ключа (с циклическим повторением): key[i % key_len] применяется операция XOR ^ результат преобразуется обратно: chr(...)  Формула шифрования C = T ⊕ K где: T — символ текста  K — символ ключа  C — зашифрованный символ </vt:lpstr>
      <vt:lpstr>Дешифрование выполняется тем же алгоритмом. к зашифрованному тексту снова применяется тот же ключ операция XOR восстанавливает исходный текст </vt:lpstr>
      <vt:lpstr>Заключение</vt:lpstr>
      <vt:lpstr>Ссылка на репозиторий проекта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Костик</dc:creator>
  <cp:lastModifiedBy>Timur</cp:lastModifiedBy>
  <cp:revision>12</cp:revision>
  <dcterms:created xsi:type="dcterms:W3CDTF">2026-04-08T09:42:58Z</dcterms:created>
  <dcterms:modified xsi:type="dcterms:W3CDTF">2026-05-05T13:50:21Z</dcterms:modified>
</cp:coreProperties>
</file>